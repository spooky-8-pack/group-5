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256" r:id="rId2"/>
    <p:sldId id="257" r:id="rId3"/>
    <p:sldId id="276" r:id="rId4"/>
    <p:sldId id="277" r:id="rId5"/>
    <p:sldId id="278" r:id="rId6"/>
    <p:sldId id="279" r:id="rId7"/>
    <p:sldId id="282" r:id="rId8"/>
    <p:sldId id="283" r:id="rId9"/>
    <p:sldId id="284" r:id="rId10"/>
    <p:sldId id="259" r:id="rId11"/>
    <p:sldId id="265" r:id="rId12"/>
    <p:sldId id="266" r:id="rId13"/>
    <p:sldId id="267" r:id="rId14"/>
    <p:sldId id="268" r:id="rId15"/>
    <p:sldId id="269" r:id="rId16"/>
    <p:sldId id="270" r:id="rId17"/>
    <p:sldId id="275" r:id="rId18"/>
    <p:sldId id="273" r:id="rId19"/>
    <p:sldId id="271" r:id="rId20"/>
    <p:sldId id="274" r:id="rId21"/>
    <p:sldId id="272" r:id="rId22"/>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BF380-63B6-AEA6-F523-C226FB97A174}" v="2990" vWet="2991" dt="2026-04-29T15:03:08.664"/>
    <p1510:client id="{16823F10-3F01-F8C9-F63E-B5865AC0756D}" v="1443" dt="2026-04-29T14:14:23.097"/>
    <p1510:client id="{2157959C-C31D-209D-A6B1-52FD69C37FA2}" v="23" dt="2026-04-29T14:16:10.435"/>
    <p1510:client id="{6269DCBA-39EE-A3EF-ACA0-5A37345F8FD1}" v="8" dt="2026-04-29T16:14:24.139"/>
    <p1510:client id="{7699D2A4-F101-409E-8C5D-337A21A6EFE0}" v="703" dt="2026-04-29T16:25:36.127"/>
    <p1510:client id="{B2BC5DC8-CC76-6AF7-3722-C8813A210465}" v="1542" dt="2026-04-29T14:12:53.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DC22DE-F445-45CC-936A-833FD3A308C7}"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348F4-1955-42F5-95D8-2601E4060F5E}" type="slidenum">
              <a:rPr lang="en-US" smtClean="0"/>
              <a:t>‹#›</a:t>
            </a:fld>
            <a:endParaRPr lang="en-US" dirty="0"/>
          </a:p>
        </p:txBody>
      </p:sp>
    </p:spTree>
    <p:extLst>
      <p:ext uri="{BB962C8B-B14F-4D97-AF65-F5344CB8AC3E}">
        <p14:creationId xmlns:p14="http://schemas.microsoft.com/office/powerpoint/2010/main" val="39559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8348F4-1955-42F5-95D8-2601E4060F5E}" type="slidenum">
              <a:rPr lang="en-US" smtClean="0"/>
              <a:t>10</a:t>
            </a:fld>
            <a:endParaRPr lang="en-US" dirty="0"/>
          </a:p>
        </p:txBody>
      </p:sp>
    </p:spTree>
    <p:extLst>
      <p:ext uri="{BB962C8B-B14F-4D97-AF65-F5344CB8AC3E}">
        <p14:creationId xmlns:p14="http://schemas.microsoft.com/office/powerpoint/2010/main" val="2290610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98348F4-1955-42F5-95D8-2601E4060F5E}" type="slidenum">
              <a:rPr lang="en-US" smtClean="0"/>
              <a:t>11</a:t>
            </a:fld>
            <a:endParaRPr lang="en-US" dirty="0"/>
          </a:p>
        </p:txBody>
      </p:sp>
    </p:spTree>
    <p:extLst>
      <p:ext uri="{BB962C8B-B14F-4D97-AF65-F5344CB8AC3E}">
        <p14:creationId xmlns:p14="http://schemas.microsoft.com/office/powerpoint/2010/main" val="530501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7FFF8-31FF-B2F3-FA54-560C10916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6F476-A781-C4E8-644C-1193A3D44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27387-B16E-D492-E2EB-67D3A49E9BCC}"/>
              </a:ext>
            </a:extLst>
          </p:cNvPr>
          <p:cNvSpPr>
            <a:spLocks noGrp="1"/>
          </p:cNvSpPr>
          <p:nvPr>
            <p:ph type="body" idx="1"/>
          </p:nvPr>
        </p:nvSpPr>
        <p:spPr/>
        <p:txBody>
          <a:bodyPr/>
          <a:lstStyle/>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532CFF4-5055-56FA-7945-9DE397F35A39}"/>
              </a:ext>
            </a:extLst>
          </p:cNvPr>
          <p:cNvSpPr>
            <a:spLocks noGrp="1"/>
          </p:cNvSpPr>
          <p:nvPr>
            <p:ph type="sldNum" sz="quarter" idx="5"/>
          </p:nvPr>
        </p:nvSpPr>
        <p:spPr/>
        <p:txBody>
          <a:bodyPr/>
          <a:lstStyle/>
          <a:p>
            <a:fld id="{C98348F4-1955-42F5-95D8-2601E4060F5E}" type="slidenum">
              <a:rPr lang="en-US" smtClean="0"/>
              <a:t>12</a:t>
            </a:fld>
            <a:endParaRPr lang="en-US" dirty="0"/>
          </a:p>
        </p:txBody>
      </p:sp>
    </p:spTree>
    <p:extLst>
      <p:ext uri="{BB962C8B-B14F-4D97-AF65-F5344CB8AC3E}">
        <p14:creationId xmlns:p14="http://schemas.microsoft.com/office/powerpoint/2010/main" val="2470861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16794-CBA8-405B-E7DB-79F2F6C06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29279-8F06-BF2C-6DE8-621979704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BA890-1E99-7DAC-EA94-3E5CAE020B1A}"/>
              </a:ext>
            </a:extLst>
          </p:cNvPr>
          <p:cNvSpPr>
            <a:spLocks noGrp="1"/>
          </p:cNvSpPr>
          <p:nvPr>
            <p:ph type="body" idx="1"/>
          </p:nvPr>
        </p:nvSpPr>
        <p:spPr/>
        <p:txBody>
          <a:bodyPr/>
          <a:lstStyle/>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C0A663B-403D-C651-3908-CBC31C8DDF3A}"/>
              </a:ext>
            </a:extLst>
          </p:cNvPr>
          <p:cNvSpPr>
            <a:spLocks noGrp="1"/>
          </p:cNvSpPr>
          <p:nvPr>
            <p:ph type="sldNum" sz="quarter" idx="5"/>
          </p:nvPr>
        </p:nvSpPr>
        <p:spPr/>
        <p:txBody>
          <a:bodyPr/>
          <a:lstStyle/>
          <a:p>
            <a:fld id="{C98348F4-1955-42F5-95D8-2601E4060F5E}" type="slidenum">
              <a:rPr lang="en-US" smtClean="0"/>
              <a:t>13</a:t>
            </a:fld>
            <a:endParaRPr lang="en-US" dirty="0"/>
          </a:p>
        </p:txBody>
      </p:sp>
    </p:spTree>
    <p:extLst>
      <p:ext uri="{BB962C8B-B14F-4D97-AF65-F5344CB8AC3E}">
        <p14:creationId xmlns:p14="http://schemas.microsoft.com/office/powerpoint/2010/main" val="1862479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4/29/2026</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100928685"/>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4/29/2026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327443942"/>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4/29/2026</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443587187"/>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4/29/2026</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33701142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4/29/2026</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935383323"/>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4/29/2026</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1909646873"/>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4/29/2026</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55691375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4/29/2026</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152578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4/29/2026</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96320302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4/29/2026</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52151672"/>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4/29/2026</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591330218"/>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4/29/2026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6400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wipe/>
  </p:transition>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383" y="1709738"/>
            <a:ext cx="10632067" cy="2852737"/>
          </a:xfrm>
        </p:spPr>
        <p:txBody>
          <a:bodyPr anchor="b">
            <a:normAutofit/>
          </a:bodyPr>
          <a:lstStyle/>
          <a:p>
            <a:r>
              <a:rPr lang="en-US" dirty="0"/>
              <a:t>Synthetic Diabetes Prediction Data Analysis </a:t>
            </a:r>
          </a:p>
        </p:txBody>
      </p:sp>
      <p:sp>
        <p:nvSpPr>
          <p:cNvPr id="3" name="Subtitle 2"/>
          <p:cNvSpPr>
            <a:spLocks noGrp="1"/>
          </p:cNvSpPr>
          <p:nvPr>
            <p:ph type="body" idx="1"/>
          </p:nvPr>
        </p:nvSpPr>
        <p:spPr>
          <a:xfrm>
            <a:off x="715383" y="4589463"/>
            <a:ext cx="10632067" cy="1500187"/>
          </a:xfrm>
        </p:spPr>
        <p:txBody>
          <a:bodyPr vert="horz" lIns="91440" tIns="45720" rIns="91440" bIns="45720" rtlCol="0">
            <a:normAutofit/>
          </a:bodyPr>
          <a:lstStyle/>
          <a:p>
            <a:r>
              <a:rPr lang="en-US" dirty="0"/>
              <a:t>Group 5: Adrian Aldridge, Eman Dweik, and Sarah Robinson </a:t>
            </a:r>
          </a:p>
        </p:txBody>
      </p:sp>
      <p:sp>
        <p:nvSpPr>
          <p:cNvPr id="21" name="Footer Placeholder 4">
            <a:extLst>
              <a:ext uri="{FF2B5EF4-FFF2-40B4-BE49-F238E27FC236}">
                <a16:creationId xmlns:a16="http://schemas.microsoft.com/office/drawing/2014/main" id="{263F5D1D-AFEA-9A19-1097-AE640F4B57B3}"/>
              </a:ext>
            </a:extLst>
          </p:cNvPr>
          <p:cNvSpPr>
            <a:spLocks noGrp="1"/>
          </p:cNvSpPr>
          <p:nvPr>
            <p:ph type="ftr" sz="quarter" idx="11"/>
          </p:nvPr>
        </p:nvSpPr>
        <p:spPr>
          <a:xfrm>
            <a:off x="715383" y="6356350"/>
            <a:ext cx="4539727" cy="365125"/>
          </a:xfrm>
        </p:spPr>
        <p:txBody>
          <a:bodyPr/>
          <a:lstStyle/>
          <a:p>
            <a:pPr>
              <a:spcAft>
                <a:spcPts val="600"/>
              </a:spcAft>
            </a:pPr>
            <a:r>
              <a:rPr lang="en-US" dirty="0"/>
              <a:t>
              </a:t>
            </a:r>
          </a:p>
        </p:txBody>
      </p:sp>
    </p:spTree>
    <p:extLst>
      <p:ext uri="{BB962C8B-B14F-4D97-AF65-F5344CB8AC3E}">
        <p14:creationId xmlns:p14="http://schemas.microsoft.com/office/powerpoint/2010/main" val="10985722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4C4B6-EEE7-13C2-E3A4-0BA571CD4785}"/>
              </a:ext>
            </a:extLst>
          </p:cNvPr>
          <p:cNvSpPr>
            <a:spLocks noGrp="1"/>
          </p:cNvSpPr>
          <p:nvPr>
            <p:ph type="title"/>
          </p:nvPr>
        </p:nvSpPr>
        <p:spPr>
          <a:xfrm>
            <a:off x="749403" y="763600"/>
            <a:ext cx="10691265" cy="810198"/>
          </a:xfrm>
        </p:spPr>
        <p:txBody>
          <a:bodyPr>
            <a:noAutofit/>
          </a:bodyPr>
          <a:lstStyle/>
          <a:p>
            <a:r>
              <a:rPr lang="en-US" sz="3600" dirty="0"/>
              <a:t>Introduction- The big "What &amp; Why" </a:t>
            </a:r>
          </a:p>
        </p:txBody>
      </p:sp>
      <p:sp>
        <p:nvSpPr>
          <p:cNvPr id="3" name="Content Placeholder 2">
            <a:extLst>
              <a:ext uri="{FF2B5EF4-FFF2-40B4-BE49-F238E27FC236}">
                <a16:creationId xmlns:a16="http://schemas.microsoft.com/office/drawing/2014/main" id="{D5D5DDB0-FC0A-BBB3-A3A5-84BC1C810F3A}"/>
              </a:ext>
            </a:extLst>
          </p:cNvPr>
          <p:cNvSpPr>
            <a:spLocks noGrp="1"/>
          </p:cNvSpPr>
          <p:nvPr>
            <p:ph idx="1"/>
          </p:nvPr>
        </p:nvSpPr>
        <p:spPr>
          <a:xfrm>
            <a:off x="493371" y="1380683"/>
            <a:ext cx="10691265" cy="4821421"/>
          </a:xfrm>
        </p:spPr>
        <p:txBody>
          <a:bodyPr vert="horz" lIns="91440" tIns="45720" rIns="91440" bIns="45720" rtlCol="0" anchor="t">
            <a:normAutofit/>
          </a:bodyPr>
          <a:lstStyle/>
          <a:p>
            <a:pPr>
              <a:lnSpc>
                <a:spcPct val="150000"/>
              </a:lnSpc>
            </a:pPr>
            <a:r>
              <a:rPr lang="en-US" b="1" dirty="0"/>
              <a:t>What is our dataset about?</a:t>
            </a:r>
            <a:endParaRPr lang="en-US" sz="1600" dirty="0"/>
          </a:p>
          <a:p>
            <a:pPr lvl="1">
              <a:lnSpc>
                <a:spcPct val="150000"/>
              </a:lnSpc>
              <a:buFont typeface="Courier New" panose="020B0604020202020204" pitchFamily="34" charset="0"/>
              <a:buChar char="o"/>
            </a:pPr>
            <a:r>
              <a:rPr lang="en-US" sz="1600" b="1" dirty="0"/>
              <a:t>The Source:</a:t>
            </a:r>
            <a:r>
              <a:rPr lang="en-US" sz="1600" dirty="0"/>
              <a:t> We are using a </a:t>
            </a:r>
            <a:r>
              <a:rPr lang="en-US" sz="1600" b="1" dirty="0"/>
              <a:t>Synthetic Diabetes Prediction Dataset</a:t>
            </a:r>
            <a:r>
              <a:rPr lang="en-US" sz="1600" dirty="0"/>
              <a:t> sourced from Kaggle.</a:t>
            </a:r>
          </a:p>
          <a:p>
            <a:pPr lvl="1">
              <a:lnSpc>
                <a:spcPct val="150000"/>
              </a:lnSpc>
              <a:buFont typeface="Courier New" panose="020B0604020202020204" pitchFamily="34" charset="0"/>
              <a:buChar char="o"/>
            </a:pPr>
            <a:r>
              <a:rPr lang="en-US" sz="1600" b="1" dirty="0"/>
              <a:t>The Content:</a:t>
            </a:r>
            <a:r>
              <a:rPr lang="en-US" sz="1600" dirty="0"/>
              <a:t> It simulates health data for thousands of individuals including features like </a:t>
            </a:r>
            <a:r>
              <a:rPr lang="en-US" sz="1600" b="1" dirty="0"/>
              <a:t>Age</a:t>
            </a:r>
            <a:r>
              <a:rPr lang="en-US" sz="1600" dirty="0"/>
              <a:t>, </a:t>
            </a:r>
            <a:r>
              <a:rPr lang="en-US" sz="1600" b="1" dirty="0"/>
              <a:t>Gender</a:t>
            </a:r>
            <a:r>
              <a:rPr lang="en-US" sz="1600" dirty="0"/>
              <a:t>, </a:t>
            </a:r>
            <a:r>
              <a:rPr lang="en-US" sz="1600" b="1" dirty="0"/>
              <a:t>BMI,</a:t>
            </a:r>
            <a:r>
              <a:rPr lang="en-US" sz="1600" dirty="0"/>
              <a:t> and </a:t>
            </a:r>
            <a:r>
              <a:rPr lang="en-US" sz="1600" b="1" dirty="0"/>
              <a:t>Glucose levels</a:t>
            </a:r>
            <a:r>
              <a:rPr lang="en-US" sz="1600" dirty="0"/>
              <a:t>.</a:t>
            </a:r>
          </a:p>
          <a:p>
            <a:pPr lvl="1">
              <a:lnSpc>
                <a:spcPct val="150000"/>
              </a:lnSpc>
              <a:buFont typeface="Courier New" panose="020B0604020202020204" pitchFamily="34" charset="0"/>
              <a:buChar char="o"/>
            </a:pPr>
            <a:r>
              <a:rPr lang="en-US" sz="1600" b="1" dirty="0"/>
              <a:t>The Nature of the Data:</a:t>
            </a:r>
            <a:r>
              <a:rPr lang="en-US" sz="1600" dirty="0"/>
              <a:t> It is a </a:t>
            </a:r>
            <a:r>
              <a:rPr lang="en-US" sz="1600" b="1" dirty="0"/>
              <a:t>synthetic </a:t>
            </a:r>
            <a:r>
              <a:rPr lang="en-US" sz="1600" dirty="0"/>
              <a:t>or</a:t>
            </a:r>
            <a:r>
              <a:rPr lang="en-US" sz="1600" b="1" dirty="0"/>
              <a:t> designed</a:t>
            </a:r>
            <a:r>
              <a:rPr lang="en-US" sz="1600" dirty="0"/>
              <a:t> dataset. Meaning that it was computer-generated to mimic a real-world patterns for research and education rather than being gathered from actual patients.</a:t>
            </a:r>
          </a:p>
          <a:p>
            <a:pPr>
              <a:lnSpc>
                <a:spcPct val="150000"/>
              </a:lnSpc>
            </a:pPr>
            <a:r>
              <a:rPr lang="en-US" b="1" dirty="0"/>
              <a:t>What questions are we trying to answer? </a:t>
            </a:r>
          </a:p>
          <a:p>
            <a:pPr lvl="1">
              <a:lnSpc>
                <a:spcPct val="150000"/>
              </a:lnSpc>
              <a:buFont typeface="Courier New" panose="020B0604020202020204" pitchFamily="34" charset="0"/>
              <a:buChar char="o"/>
            </a:pPr>
            <a:r>
              <a:rPr lang="en-US" sz="1600" b="1" dirty="0"/>
              <a:t>Relationship Discovery:</a:t>
            </a:r>
            <a:r>
              <a:rPr lang="en-US" sz="1600" dirty="0"/>
              <a:t> What is the statistical relationship between diabetes status and different physical traits?</a:t>
            </a:r>
          </a:p>
          <a:p>
            <a:pPr lvl="1">
              <a:lnSpc>
                <a:spcPct val="150000"/>
              </a:lnSpc>
              <a:buFont typeface="Courier New" panose="020B0604020202020204" pitchFamily="34" charset="0"/>
              <a:buChar char="o"/>
            </a:pPr>
            <a:r>
              <a:rPr lang="en-US" sz="1600" b="1" dirty="0"/>
              <a:t>Correlation Significance</a:t>
            </a:r>
            <a:r>
              <a:rPr lang="en-US" sz="1600" dirty="0"/>
              <a:t>: Are common indicators, such as BMI or Glucose, as significant in this synthetic environment as they are in the real world?</a:t>
            </a:r>
          </a:p>
          <a:p>
            <a:pPr lvl="1">
              <a:lnSpc>
                <a:spcPct val="150000"/>
              </a:lnSpc>
              <a:buFont typeface="Courier New" panose="020B0604020202020204" pitchFamily="34" charset="0"/>
              <a:buChar char="o"/>
            </a:pPr>
            <a:endParaRPr lang="en-US" sz="1600" dirty="0"/>
          </a:p>
          <a:p>
            <a:pPr marL="0" indent="0">
              <a:buNone/>
            </a:pPr>
            <a:endParaRPr lang="en-US" b="1" dirty="0"/>
          </a:p>
          <a:p>
            <a:pPr lvl="1">
              <a:buFont typeface="Courier New" panose="020B0604020202020204" pitchFamily="34" charset="0"/>
              <a:buChar char="o"/>
            </a:pPr>
            <a:endParaRPr lang="en-US" dirty="0"/>
          </a:p>
        </p:txBody>
      </p:sp>
    </p:spTree>
    <p:extLst>
      <p:ext uri="{BB962C8B-B14F-4D97-AF65-F5344CB8AC3E}">
        <p14:creationId xmlns:p14="http://schemas.microsoft.com/office/powerpoint/2010/main" val="35143582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D5854-61F3-CDA5-6172-C3E83B99D1E9}"/>
              </a:ext>
            </a:extLst>
          </p:cNvPr>
          <p:cNvSpPr>
            <a:spLocks noGrp="1"/>
          </p:cNvSpPr>
          <p:nvPr>
            <p:ph type="title"/>
          </p:nvPr>
        </p:nvSpPr>
        <p:spPr>
          <a:xfrm>
            <a:off x="719449" y="922096"/>
            <a:ext cx="10672451" cy="938290"/>
          </a:xfrm>
        </p:spPr>
        <p:txBody>
          <a:bodyPr/>
          <a:lstStyle/>
          <a:p>
            <a:r>
              <a:rPr lang="en-US" sz="3600" dirty="0"/>
              <a:t>Introduction- The big "What &amp; Why" Continued</a:t>
            </a:r>
          </a:p>
        </p:txBody>
      </p:sp>
      <p:sp>
        <p:nvSpPr>
          <p:cNvPr id="3" name="Content Placeholder 2">
            <a:extLst>
              <a:ext uri="{FF2B5EF4-FFF2-40B4-BE49-F238E27FC236}">
                <a16:creationId xmlns:a16="http://schemas.microsoft.com/office/drawing/2014/main" id="{C39D7CF3-289F-AB2C-5DF5-CDCF6EBA1E70}"/>
              </a:ext>
            </a:extLst>
          </p:cNvPr>
          <p:cNvSpPr>
            <a:spLocks noGrp="1"/>
          </p:cNvSpPr>
          <p:nvPr>
            <p:ph idx="1"/>
          </p:nvPr>
        </p:nvSpPr>
        <p:spPr>
          <a:xfrm>
            <a:off x="719450" y="1587571"/>
            <a:ext cx="10672451" cy="4473346"/>
          </a:xfrm>
        </p:spPr>
        <p:txBody>
          <a:bodyPr vert="horz" lIns="91440" tIns="45720" rIns="91440" bIns="45720" rtlCol="0" anchor="t">
            <a:normAutofit fontScale="92500" lnSpcReduction="10000"/>
          </a:bodyPr>
          <a:lstStyle/>
          <a:p>
            <a:pPr marL="342900" indent="-342900">
              <a:lnSpc>
                <a:spcPct val="170000"/>
              </a:lnSpc>
            </a:pPr>
            <a:r>
              <a:rPr lang="en-US" sz="1900" b="1" dirty="0"/>
              <a:t>What questions are we trying to answer?</a:t>
            </a:r>
          </a:p>
          <a:p>
            <a:pPr lvl="1">
              <a:lnSpc>
                <a:spcPct val="170000"/>
              </a:lnSpc>
              <a:buFont typeface="Courier New,monospace" panose="020B0604020202020204" pitchFamily="34" charset="0"/>
              <a:buChar char="o"/>
            </a:pPr>
            <a:r>
              <a:rPr lang="en-US" b="1" dirty="0"/>
              <a:t>Predictive Ability</a:t>
            </a:r>
            <a:r>
              <a:rPr lang="en-US" dirty="0"/>
              <a:t>: </a:t>
            </a:r>
            <a:r>
              <a:rPr lang="en-US" sz="1500" dirty="0"/>
              <a:t>Can we build a machine learning model that accurately predicts diabetes status even when individual correlations appear weak?</a:t>
            </a:r>
            <a:endParaRPr lang="en-US" sz="1500" b="1" dirty="0"/>
          </a:p>
          <a:p>
            <a:pPr>
              <a:lnSpc>
                <a:spcPct val="170000"/>
              </a:lnSpc>
            </a:pPr>
            <a:r>
              <a:rPr lang="en-US" sz="1900" b="1" dirty="0"/>
              <a:t>Why is this important to study?</a:t>
            </a:r>
            <a:endParaRPr lang="en-US" sz="1900" dirty="0"/>
          </a:p>
          <a:p>
            <a:pPr lvl="1">
              <a:lnSpc>
                <a:spcPct val="170000"/>
              </a:lnSpc>
              <a:buFont typeface="Courier New,monospace" panose="020B0604020202020204" pitchFamily="34" charset="0"/>
              <a:buChar char="o"/>
            </a:pPr>
            <a:r>
              <a:rPr lang="en-US" sz="1600" b="1" dirty="0"/>
              <a:t>Educational Value: </a:t>
            </a:r>
            <a:r>
              <a:rPr lang="en-US" sz="1600" dirty="0"/>
              <a:t>Synthetic datasets are vital tools  for practicing data cleaning, statistical methodology, and visualization without the privacy constraints of using real medical records.</a:t>
            </a:r>
          </a:p>
          <a:p>
            <a:pPr lvl="1">
              <a:lnSpc>
                <a:spcPct val="170000"/>
              </a:lnSpc>
              <a:buFont typeface="Courier New,monospace" panose="020B0604020202020204" pitchFamily="34" charset="0"/>
              <a:buChar char="o"/>
            </a:pPr>
            <a:r>
              <a:rPr lang="en-US" sz="1600" b="1" dirty="0"/>
              <a:t>Understanding Data Limitations:</a:t>
            </a:r>
            <a:r>
              <a:rPr lang="en-US" sz="1600" dirty="0"/>
              <a:t> This study teaches us how to identify the "artificial" nature of the data when expected clinical relationships, such as high BMI leading to glucose, are missing.</a:t>
            </a:r>
          </a:p>
          <a:p>
            <a:pPr lvl="1">
              <a:lnSpc>
                <a:spcPct val="170000"/>
              </a:lnSpc>
              <a:buFont typeface="Courier New,monospace" panose="020B0604020202020204" pitchFamily="34" charset="0"/>
              <a:buChar char="o"/>
            </a:pPr>
            <a:r>
              <a:rPr lang="en-US" sz="1600" b="1" dirty="0"/>
              <a:t>Methodological Rigor:</a:t>
            </a:r>
            <a:r>
              <a:rPr lang="en-US" sz="1600" dirty="0"/>
              <a:t> It forces us to move beyond simple univariate analysis and apply more sophisticated multivariate techniques to find hidden patterns.</a:t>
            </a:r>
          </a:p>
        </p:txBody>
      </p:sp>
      <p:sp>
        <p:nvSpPr>
          <p:cNvPr id="5" name="Footer Placeholder 4">
            <a:extLst>
              <a:ext uri="{FF2B5EF4-FFF2-40B4-BE49-F238E27FC236}">
                <a16:creationId xmlns:a16="http://schemas.microsoft.com/office/drawing/2014/main" id="{308C78DE-F079-7B00-B8DA-809782245D64}"/>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60465218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AE480-A4E5-747D-FDD7-1AF61984A7C4}"/>
              </a:ext>
            </a:extLst>
          </p:cNvPr>
          <p:cNvSpPr>
            <a:spLocks noGrp="1"/>
          </p:cNvSpPr>
          <p:nvPr>
            <p:ph type="title"/>
          </p:nvPr>
        </p:nvSpPr>
        <p:spPr>
          <a:xfrm>
            <a:off x="840843" y="739216"/>
            <a:ext cx="10679073" cy="596838"/>
          </a:xfrm>
        </p:spPr>
        <p:txBody>
          <a:bodyPr>
            <a:normAutofit fontScale="90000"/>
          </a:bodyPr>
          <a:lstStyle/>
          <a:p>
            <a:r>
              <a:rPr lang="en-US" dirty="0"/>
              <a:t>Data Cleaning &amp; Standardization</a:t>
            </a:r>
          </a:p>
        </p:txBody>
      </p:sp>
      <p:sp>
        <p:nvSpPr>
          <p:cNvPr id="3" name="Content Placeholder 2">
            <a:extLst>
              <a:ext uri="{FF2B5EF4-FFF2-40B4-BE49-F238E27FC236}">
                <a16:creationId xmlns:a16="http://schemas.microsoft.com/office/drawing/2014/main" id="{93260F2E-4B14-60E3-118C-27F27B396659}"/>
              </a:ext>
            </a:extLst>
          </p:cNvPr>
          <p:cNvSpPr>
            <a:spLocks noGrp="1"/>
          </p:cNvSpPr>
          <p:nvPr>
            <p:ph idx="1"/>
          </p:nvPr>
        </p:nvSpPr>
        <p:spPr>
          <a:xfrm>
            <a:off x="715383" y="1318024"/>
            <a:ext cx="7863615" cy="4708634"/>
          </a:xfrm>
        </p:spPr>
        <p:txBody>
          <a:bodyPr vert="horz" lIns="91440" tIns="45720" rIns="91440" bIns="45720" rtlCol="0" anchor="t">
            <a:noAutofit/>
          </a:bodyPr>
          <a:lstStyle/>
          <a:p>
            <a:pPr marL="0" indent="0">
              <a:lnSpc>
                <a:spcPct val="170000"/>
              </a:lnSpc>
              <a:buNone/>
            </a:pPr>
            <a:r>
              <a:rPr lang="en-US" sz="1800" b="1" dirty="0">
                <a:ea typeface="+mn-lt"/>
                <a:cs typeface="+mn-lt"/>
              </a:rPr>
              <a:t>Null-Value Audit</a:t>
            </a:r>
            <a:endParaRPr lang="en-US" sz="1800" dirty="0"/>
          </a:p>
          <a:p>
            <a:pPr>
              <a:lnSpc>
                <a:spcPct val="170000"/>
              </a:lnSpc>
            </a:pPr>
            <a:r>
              <a:rPr lang="en-US" sz="1800" b="1" dirty="0">
                <a:ea typeface="+mn-lt"/>
                <a:cs typeface="+mn-lt"/>
              </a:rPr>
              <a:t>Action:</a:t>
            </a:r>
            <a:r>
              <a:rPr lang="en-US" sz="1800" dirty="0">
                <a:ea typeface="+mn-lt"/>
                <a:cs typeface="+mn-lt"/>
              </a:rPr>
              <a:t> We performed a comprehensive scan across all features to detect missing data points.</a:t>
            </a:r>
            <a:endParaRPr lang="en-US" sz="1800" dirty="0"/>
          </a:p>
          <a:p>
            <a:pPr>
              <a:lnSpc>
                <a:spcPct val="170000"/>
              </a:lnSpc>
            </a:pPr>
            <a:r>
              <a:rPr lang="en-US" sz="1800" b="1" dirty="0">
                <a:ea typeface="+mn-lt"/>
                <a:cs typeface="+mn-lt"/>
              </a:rPr>
              <a:t>Explanation:</a:t>
            </a:r>
            <a:r>
              <a:rPr lang="en-US" sz="1800" dirty="0">
                <a:ea typeface="+mn-lt"/>
                <a:cs typeface="+mn-lt"/>
              </a:rPr>
              <a:t> In data science, missing values can act like "holes" in a blueprint; if they aren't addressed, the final structure (our model) could collapse or be inaccurate.</a:t>
            </a:r>
            <a:endParaRPr lang="en-US" sz="1800" dirty="0"/>
          </a:p>
          <a:p>
            <a:pPr>
              <a:lnSpc>
                <a:spcPct val="170000"/>
              </a:lnSpc>
            </a:pPr>
            <a:r>
              <a:rPr lang="en-US" sz="1800" b="1" dirty="0">
                <a:ea typeface="+mn-lt"/>
                <a:cs typeface="+mn-lt"/>
              </a:rPr>
              <a:t>Justification:</a:t>
            </a:r>
            <a:r>
              <a:rPr lang="en-US" sz="1800" dirty="0">
                <a:ea typeface="+mn-lt"/>
                <a:cs typeface="+mn-lt"/>
              </a:rPr>
              <a:t> By confirming a 0% null rate, we avoid the need for "imputation"—the practice of guessing or filling in gaps—which keeps our data as authentic as possible.</a:t>
            </a:r>
            <a:endParaRPr lang="en-US" sz="1800" dirty="0"/>
          </a:p>
          <a:p>
            <a:pPr marL="0" indent="0">
              <a:lnSpc>
                <a:spcPct val="170000"/>
              </a:lnSpc>
              <a:buNone/>
            </a:pPr>
            <a:endParaRPr lang="en-US" sz="1600" b="1" dirty="0"/>
          </a:p>
          <a:p>
            <a:pPr marL="0" indent="0">
              <a:buNone/>
            </a:pPr>
            <a:endParaRPr lang="en-US" b="1" dirty="0"/>
          </a:p>
          <a:p>
            <a:endParaRPr lang="en-US" dirty="0"/>
          </a:p>
        </p:txBody>
      </p:sp>
      <p:sp>
        <p:nvSpPr>
          <p:cNvPr id="5" name="Footer Placeholder 4">
            <a:extLst>
              <a:ext uri="{FF2B5EF4-FFF2-40B4-BE49-F238E27FC236}">
                <a16:creationId xmlns:a16="http://schemas.microsoft.com/office/drawing/2014/main" id="{79BA4D8F-C0F2-E96C-3DC5-F8EF60EA01A5}"/>
              </a:ext>
            </a:extLst>
          </p:cNvPr>
          <p:cNvSpPr>
            <a:spLocks noGrp="1"/>
          </p:cNvSpPr>
          <p:nvPr>
            <p:ph type="ftr" sz="quarter" idx="11"/>
          </p:nvPr>
        </p:nvSpPr>
        <p:spPr/>
        <p:txBody>
          <a:bodyPr/>
          <a:lstStyle/>
          <a:p>
            <a:r>
              <a:rPr lang="en-US" dirty="0"/>
              <a:t>
              </a:t>
            </a:r>
          </a:p>
        </p:txBody>
      </p:sp>
      <p:pic>
        <p:nvPicPr>
          <p:cNvPr id="7" name="Picture 6" descr="A screen shot of a computer&#10;&#10;AI-generated content may be incorrect.">
            <a:extLst>
              <a:ext uri="{FF2B5EF4-FFF2-40B4-BE49-F238E27FC236}">
                <a16:creationId xmlns:a16="http://schemas.microsoft.com/office/drawing/2014/main" id="{4F308502-5531-54AD-20D2-BA3053E625C8}"/>
              </a:ext>
            </a:extLst>
          </p:cNvPr>
          <p:cNvPicPr>
            <a:picLocks noChangeAspect="1"/>
          </p:cNvPicPr>
          <p:nvPr/>
        </p:nvPicPr>
        <p:blipFill>
          <a:blip r:embed="rId2"/>
          <a:stretch>
            <a:fillRect/>
          </a:stretch>
        </p:blipFill>
        <p:spPr>
          <a:xfrm>
            <a:off x="8750628" y="831342"/>
            <a:ext cx="2597658" cy="5195316"/>
          </a:xfrm>
          <a:prstGeom prst="rect">
            <a:avLst/>
          </a:prstGeom>
        </p:spPr>
      </p:pic>
    </p:spTree>
    <p:extLst>
      <p:ext uri="{BB962C8B-B14F-4D97-AF65-F5344CB8AC3E}">
        <p14:creationId xmlns:p14="http://schemas.microsoft.com/office/powerpoint/2010/main" val="254386466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2B26-33BE-1218-1D8B-5890B869E995}"/>
              </a:ext>
            </a:extLst>
          </p:cNvPr>
          <p:cNvSpPr>
            <a:spLocks noGrp="1"/>
          </p:cNvSpPr>
          <p:nvPr>
            <p:ph type="title"/>
          </p:nvPr>
        </p:nvSpPr>
        <p:spPr>
          <a:xfrm>
            <a:off x="712827" y="922096"/>
            <a:ext cx="10679073" cy="791910"/>
          </a:xfrm>
        </p:spPr>
        <p:txBody>
          <a:bodyPr/>
          <a:lstStyle/>
          <a:p>
            <a:r>
              <a:rPr lang="en-US" sz="3600" dirty="0"/>
              <a:t>Data Cleaning &amp; Standardization Continued</a:t>
            </a:r>
            <a:endParaRPr lang="en-US" dirty="0"/>
          </a:p>
        </p:txBody>
      </p:sp>
      <p:sp>
        <p:nvSpPr>
          <p:cNvPr id="3" name="Content Placeholder 2">
            <a:extLst>
              <a:ext uri="{FF2B5EF4-FFF2-40B4-BE49-F238E27FC236}">
                <a16:creationId xmlns:a16="http://schemas.microsoft.com/office/drawing/2014/main" id="{AD56EABE-8A66-2C3C-DF73-EE5063FACAE3}"/>
              </a:ext>
            </a:extLst>
          </p:cNvPr>
          <p:cNvSpPr>
            <a:spLocks noGrp="1"/>
          </p:cNvSpPr>
          <p:nvPr>
            <p:ph idx="1"/>
          </p:nvPr>
        </p:nvSpPr>
        <p:spPr>
          <a:xfrm>
            <a:off x="712827" y="1492469"/>
            <a:ext cx="10953656" cy="4674489"/>
          </a:xfrm>
        </p:spPr>
        <p:txBody>
          <a:bodyPr vert="horz" lIns="91440" tIns="45720" rIns="91440" bIns="45720" rtlCol="0" anchor="t">
            <a:normAutofit fontScale="92500"/>
          </a:bodyPr>
          <a:lstStyle/>
          <a:p>
            <a:pPr marL="0" indent="0">
              <a:lnSpc>
                <a:spcPct val="170000"/>
              </a:lnSpc>
              <a:buNone/>
            </a:pPr>
            <a:r>
              <a:rPr lang="en-US" sz="1600" b="1" dirty="0"/>
              <a:t>Redundancy &amp; Duplicate Removal</a:t>
            </a:r>
            <a:endParaRPr lang="en-US" sz="1600" dirty="0"/>
          </a:p>
          <a:p>
            <a:pPr>
              <a:lnSpc>
                <a:spcPct val="170000"/>
              </a:lnSpc>
              <a:buFont typeface="Arial"/>
              <a:buChar char="•"/>
            </a:pPr>
            <a:r>
              <a:rPr lang="en-US" sz="1600" b="1" dirty="0"/>
              <a:t>Action:</a:t>
            </a:r>
            <a:r>
              <a:rPr lang="en-US" sz="1600" dirty="0"/>
              <a:t> We identified and removed identical row entries within the dataset.</a:t>
            </a:r>
          </a:p>
          <a:p>
            <a:pPr>
              <a:lnSpc>
                <a:spcPct val="170000"/>
              </a:lnSpc>
              <a:buFont typeface="Arial"/>
              <a:buChar char="•"/>
            </a:pPr>
            <a:r>
              <a:rPr lang="en-US" sz="1600" b="1" dirty="0"/>
              <a:t>Explanation:</a:t>
            </a:r>
            <a:r>
              <a:rPr lang="en-US" sz="1600" dirty="0"/>
              <a:t> Duplicates act like an echo, making the computer believe a specific pattern is more common than it actually is.</a:t>
            </a:r>
          </a:p>
          <a:p>
            <a:pPr>
              <a:lnSpc>
                <a:spcPct val="170000"/>
              </a:lnSpc>
              <a:buFont typeface="Arial"/>
              <a:buChar char="•"/>
            </a:pPr>
            <a:r>
              <a:rPr lang="en-US" sz="1600" b="1" dirty="0"/>
              <a:t>Justification:</a:t>
            </a:r>
            <a:r>
              <a:rPr lang="en-US" sz="1600" dirty="0"/>
              <a:t> Removing these ensures that our statistical averages and percentages reflect a true population rather than a repeated one.</a:t>
            </a:r>
          </a:p>
          <a:p>
            <a:pPr marL="0" indent="0">
              <a:lnSpc>
                <a:spcPct val="150000"/>
              </a:lnSpc>
              <a:buNone/>
            </a:pPr>
            <a:r>
              <a:rPr lang="en-US" sz="1600" b="1" dirty="0"/>
              <a:t>Structural Standardization</a:t>
            </a:r>
            <a:endParaRPr lang="en-US" sz="1600" dirty="0"/>
          </a:p>
          <a:p>
            <a:pPr>
              <a:lnSpc>
                <a:spcPct val="150000"/>
              </a:lnSpc>
            </a:pPr>
            <a:r>
              <a:rPr lang="en-US" sz="1600" b="1" dirty="0"/>
              <a:t>Action:</a:t>
            </a:r>
            <a:r>
              <a:rPr lang="en-US" sz="1600" dirty="0"/>
              <a:t> We moved the raw CSV into a dedicated </a:t>
            </a:r>
            <a:r>
              <a:rPr lang="en-US" sz="1600" dirty="0">
                <a:latin typeface="Consolas"/>
              </a:rPr>
              <a:t>/data</a:t>
            </a:r>
            <a:r>
              <a:rPr lang="en-US" sz="1600" dirty="0"/>
              <a:t> directory and standardized filenames with underscores.</a:t>
            </a:r>
          </a:p>
          <a:p>
            <a:pPr>
              <a:lnSpc>
                <a:spcPct val="150000"/>
              </a:lnSpc>
            </a:pPr>
            <a:r>
              <a:rPr lang="en-US" sz="1600" b="1" dirty="0"/>
              <a:t>Explanation:</a:t>
            </a:r>
            <a:r>
              <a:rPr lang="en-US" sz="1600" dirty="0"/>
              <a:t> This is the digital equivalent of an organized filing cabinet.</a:t>
            </a:r>
          </a:p>
          <a:p>
            <a:pPr>
              <a:lnSpc>
                <a:spcPct val="150000"/>
              </a:lnSpc>
            </a:pPr>
            <a:r>
              <a:rPr lang="en-US" sz="1600" b="1" dirty="0"/>
              <a:t>Justification:</a:t>
            </a:r>
            <a:r>
              <a:rPr lang="en-US" sz="1600" dirty="0"/>
              <a:t> It ensures "Reproducibility," meaning any teammate or the professor can run our code immediately without having to manually fix file paths.</a:t>
            </a:r>
          </a:p>
        </p:txBody>
      </p:sp>
      <p:sp>
        <p:nvSpPr>
          <p:cNvPr id="5" name="Footer Placeholder 4">
            <a:extLst>
              <a:ext uri="{FF2B5EF4-FFF2-40B4-BE49-F238E27FC236}">
                <a16:creationId xmlns:a16="http://schemas.microsoft.com/office/drawing/2014/main" id="{D18043B6-2891-ABCB-0B91-99E8856814EF}"/>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73982249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A282-E463-FDED-BDFE-11572EB8DFD9}"/>
              </a:ext>
            </a:extLst>
          </p:cNvPr>
          <p:cNvSpPr>
            <a:spLocks noGrp="1"/>
          </p:cNvSpPr>
          <p:nvPr>
            <p:ph type="title"/>
          </p:nvPr>
        </p:nvSpPr>
        <p:spPr/>
        <p:txBody>
          <a:bodyPr/>
          <a:lstStyle/>
          <a:p>
            <a:r>
              <a:rPr lang="en-US" dirty="0"/>
              <a:t>Exploratory Analysis: First Insights</a:t>
            </a:r>
          </a:p>
        </p:txBody>
      </p:sp>
      <p:sp>
        <p:nvSpPr>
          <p:cNvPr id="3" name="Content Placeholder 2">
            <a:extLst>
              <a:ext uri="{FF2B5EF4-FFF2-40B4-BE49-F238E27FC236}">
                <a16:creationId xmlns:a16="http://schemas.microsoft.com/office/drawing/2014/main" id="{52596E23-FA4F-E407-87F0-99EE863849B4}"/>
              </a:ext>
            </a:extLst>
          </p:cNvPr>
          <p:cNvSpPr>
            <a:spLocks noGrp="1"/>
          </p:cNvSpPr>
          <p:nvPr>
            <p:ph idx="1"/>
          </p:nvPr>
        </p:nvSpPr>
        <p:spPr>
          <a:xfrm>
            <a:off x="719449" y="1512312"/>
            <a:ext cx="11378006" cy="4670902"/>
          </a:xfrm>
        </p:spPr>
        <p:txBody>
          <a:bodyPr vert="horz" lIns="91440" tIns="45720" rIns="91440" bIns="45720" rtlCol="0" anchor="t">
            <a:normAutofit fontScale="77500" lnSpcReduction="20000"/>
          </a:bodyPr>
          <a:lstStyle/>
          <a:p>
            <a:pPr marL="0" indent="0">
              <a:lnSpc>
                <a:spcPct val="170000"/>
              </a:lnSpc>
              <a:buNone/>
            </a:pPr>
            <a:r>
              <a:rPr lang="en-US" b="1" dirty="0">
                <a:ea typeface="+mn-lt"/>
                <a:cs typeface="+mn-lt"/>
              </a:rPr>
              <a:t>Target Class Distribution (The 50/50 Split)</a:t>
            </a:r>
            <a:endParaRPr lang="en-US" dirty="0"/>
          </a:p>
          <a:p>
            <a:pPr>
              <a:lnSpc>
                <a:spcPct val="170000"/>
              </a:lnSpc>
            </a:pPr>
            <a:r>
              <a:rPr lang="en-US" b="1" dirty="0">
                <a:ea typeface="+mn-lt"/>
                <a:cs typeface="+mn-lt"/>
              </a:rPr>
              <a:t>Action:</a:t>
            </a:r>
            <a:r>
              <a:rPr lang="en-US" dirty="0">
                <a:ea typeface="+mn-lt"/>
                <a:cs typeface="+mn-lt"/>
              </a:rPr>
              <a:t> We calculated the ratio of diabetic to non-diabetic outcomes.</a:t>
            </a:r>
            <a:endParaRPr lang="en-US" dirty="0"/>
          </a:p>
          <a:p>
            <a:pPr>
              <a:lnSpc>
                <a:spcPct val="170000"/>
              </a:lnSpc>
            </a:pPr>
            <a:r>
              <a:rPr lang="en-US" b="1" dirty="0">
                <a:ea typeface="+mn-lt"/>
                <a:cs typeface="+mn-lt"/>
              </a:rPr>
              <a:t>Explanation:</a:t>
            </a:r>
            <a:r>
              <a:rPr lang="en-US" dirty="0">
                <a:ea typeface="+mn-lt"/>
                <a:cs typeface="+mn-lt"/>
              </a:rPr>
              <a:t> We found that our dataset is "Balanced," meaning we have an equal number of examples for both categories.</a:t>
            </a:r>
            <a:endParaRPr lang="en-US" dirty="0"/>
          </a:p>
          <a:p>
            <a:pPr>
              <a:lnSpc>
                <a:spcPct val="170000"/>
              </a:lnSpc>
            </a:pPr>
            <a:r>
              <a:rPr lang="en-US" b="1" dirty="0">
                <a:ea typeface="+mn-lt"/>
                <a:cs typeface="+mn-lt"/>
              </a:rPr>
              <a:t>Justification:</a:t>
            </a:r>
            <a:r>
              <a:rPr lang="en-US" dirty="0">
                <a:ea typeface="+mn-lt"/>
                <a:cs typeface="+mn-lt"/>
              </a:rPr>
              <a:t> A balanced dataset is ideal for training a computer; it's like teaching a student about both "A" and "B" equally so they don't become biased toward one answer.</a:t>
            </a:r>
            <a:endParaRPr lang="en-US" dirty="0"/>
          </a:p>
          <a:p>
            <a:pPr marL="0" indent="0">
              <a:lnSpc>
                <a:spcPct val="170000"/>
              </a:lnSpc>
              <a:buNone/>
            </a:pPr>
            <a:r>
              <a:rPr lang="en-US" b="1" dirty="0">
                <a:ea typeface="+mn-lt"/>
                <a:cs typeface="+mn-lt"/>
              </a:rPr>
              <a:t>Distribution Overlap (The "Signal" Challenge)</a:t>
            </a:r>
            <a:endParaRPr lang="en-US" dirty="0"/>
          </a:p>
          <a:p>
            <a:pPr>
              <a:lnSpc>
                <a:spcPct val="170000"/>
              </a:lnSpc>
            </a:pPr>
            <a:r>
              <a:rPr lang="en-US" b="1" dirty="0">
                <a:ea typeface="+mn-lt"/>
                <a:cs typeface="+mn-lt"/>
              </a:rPr>
              <a:t>Action:</a:t>
            </a:r>
            <a:r>
              <a:rPr lang="en-US" dirty="0">
                <a:ea typeface="+mn-lt"/>
                <a:cs typeface="+mn-lt"/>
              </a:rPr>
              <a:t> We compared traits like Glucose and BMI across both groups using histograms.</a:t>
            </a:r>
            <a:endParaRPr lang="en-US" dirty="0"/>
          </a:p>
          <a:p>
            <a:pPr>
              <a:lnSpc>
                <a:spcPct val="170000"/>
              </a:lnSpc>
            </a:pPr>
            <a:r>
              <a:rPr lang="en-US" b="1" dirty="0">
                <a:ea typeface="+mn-lt"/>
                <a:cs typeface="+mn-lt"/>
              </a:rPr>
              <a:t>Explanation:</a:t>
            </a:r>
            <a:r>
              <a:rPr lang="en-US" dirty="0">
                <a:ea typeface="+mn-lt"/>
                <a:cs typeface="+mn-lt"/>
              </a:rPr>
              <a:t> We noticed that the charts for healthy and diabetic people sit almost directly on top of each other.</a:t>
            </a:r>
            <a:endParaRPr lang="en-US" dirty="0"/>
          </a:p>
          <a:p>
            <a:pPr>
              <a:lnSpc>
                <a:spcPct val="170000"/>
              </a:lnSpc>
            </a:pPr>
            <a:r>
              <a:rPr lang="en-US" b="1" dirty="0">
                <a:ea typeface="+mn-lt"/>
                <a:cs typeface="+mn-lt"/>
              </a:rPr>
              <a:t>Justification:</a:t>
            </a:r>
            <a:r>
              <a:rPr lang="en-US" dirty="0">
                <a:ea typeface="+mn-lt"/>
                <a:cs typeface="+mn-lt"/>
              </a:rPr>
              <a:t> This "High Overlap" was a major discovery. It proved that there is no single "smoking gun" variable. It justified our choice to move beyond simple observations and use advanced modeling to find hidden, multi-variable patterns.</a:t>
            </a:r>
            <a:endParaRPr lang="en-US" dirty="0"/>
          </a:p>
          <a:p>
            <a:endParaRPr lang="en-US" dirty="0"/>
          </a:p>
        </p:txBody>
      </p:sp>
      <p:sp>
        <p:nvSpPr>
          <p:cNvPr id="5" name="Footer Placeholder 4">
            <a:extLst>
              <a:ext uri="{FF2B5EF4-FFF2-40B4-BE49-F238E27FC236}">
                <a16:creationId xmlns:a16="http://schemas.microsoft.com/office/drawing/2014/main" id="{35AABF54-38B8-5798-0B12-10462F651DED}"/>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21833851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EB0B-571D-D7A6-7A62-4A95453CA131}"/>
              </a:ext>
            </a:extLst>
          </p:cNvPr>
          <p:cNvSpPr>
            <a:spLocks noGrp="1"/>
          </p:cNvSpPr>
          <p:nvPr>
            <p:ph type="title"/>
          </p:nvPr>
        </p:nvSpPr>
        <p:spPr>
          <a:xfrm>
            <a:off x="712827" y="922096"/>
            <a:ext cx="3302913" cy="1371030"/>
          </a:xfrm>
        </p:spPr>
        <p:txBody>
          <a:bodyPr/>
          <a:lstStyle/>
          <a:p>
            <a:r>
              <a:rPr lang="en-US" dirty="0"/>
              <a:t>Correlation Heat MAP</a:t>
            </a:r>
          </a:p>
        </p:txBody>
      </p:sp>
      <p:sp>
        <p:nvSpPr>
          <p:cNvPr id="3" name="Content Placeholder 2">
            <a:extLst>
              <a:ext uri="{FF2B5EF4-FFF2-40B4-BE49-F238E27FC236}">
                <a16:creationId xmlns:a16="http://schemas.microsoft.com/office/drawing/2014/main" id="{A5F7C28E-CD84-9D3C-DC37-9D5BBFA5388F}"/>
              </a:ext>
            </a:extLst>
          </p:cNvPr>
          <p:cNvSpPr>
            <a:spLocks noGrp="1"/>
          </p:cNvSpPr>
          <p:nvPr>
            <p:ph idx="1"/>
          </p:nvPr>
        </p:nvSpPr>
        <p:spPr>
          <a:xfrm>
            <a:off x="706731" y="2293126"/>
            <a:ext cx="4149048" cy="3636088"/>
          </a:xfrm>
        </p:spPr>
        <p:txBody>
          <a:bodyPr vert="horz" lIns="91440" tIns="45720" rIns="91440" bIns="45720" rtlCol="0" anchor="t">
            <a:normAutofit lnSpcReduction="10000"/>
          </a:bodyPr>
          <a:lstStyle/>
          <a:p>
            <a:pPr>
              <a:lnSpc>
                <a:spcPct val="150000"/>
              </a:lnSpc>
            </a:pPr>
            <a:r>
              <a:rPr lang="en-US" b="1" dirty="0">
                <a:ea typeface="+mn-lt"/>
                <a:cs typeface="+mn-lt"/>
              </a:rPr>
              <a:t>Feature Correlation:</a:t>
            </a:r>
            <a:r>
              <a:rPr lang="en-US" dirty="0">
                <a:ea typeface="+mn-lt"/>
                <a:cs typeface="+mn-lt"/>
              </a:rPr>
              <a:t> We generated a correlation heat map to help </a:t>
            </a:r>
            <a:r>
              <a:rPr lang="en-US" dirty="0">
                <a:solidFill>
                  <a:srgbClr val="000000"/>
                </a:solidFill>
                <a:ea typeface="+mn-lt"/>
                <a:cs typeface="+mn-lt"/>
              </a:rPr>
              <a:t>identify strong signals that will be used later in the predicting task. Interestingly, the heatmap revealed very low correlation coefficients between the predictions and target variable.</a:t>
            </a:r>
            <a:endParaRPr lang="en-US" dirty="0">
              <a:ea typeface="+mn-lt"/>
              <a:cs typeface="+mn-lt"/>
            </a:endParaRPr>
          </a:p>
          <a:p>
            <a:pPr>
              <a:lnSpc>
                <a:spcPct val="150000"/>
              </a:lnSpc>
            </a:pPr>
            <a:endParaRPr lang="en-US" dirty="0">
              <a:solidFill>
                <a:srgbClr val="000000"/>
              </a:solidFill>
              <a:ea typeface="+mn-lt"/>
              <a:cs typeface="+mn-lt"/>
            </a:endParaRPr>
          </a:p>
        </p:txBody>
      </p:sp>
      <p:sp>
        <p:nvSpPr>
          <p:cNvPr id="5" name="Footer Placeholder 4">
            <a:extLst>
              <a:ext uri="{FF2B5EF4-FFF2-40B4-BE49-F238E27FC236}">
                <a16:creationId xmlns:a16="http://schemas.microsoft.com/office/drawing/2014/main" id="{356CF632-1994-762D-ED74-C672D94FCF3B}"/>
              </a:ext>
            </a:extLst>
          </p:cNvPr>
          <p:cNvSpPr>
            <a:spLocks noGrp="1"/>
          </p:cNvSpPr>
          <p:nvPr>
            <p:ph type="ftr" sz="quarter" idx="11"/>
          </p:nvPr>
        </p:nvSpPr>
        <p:spPr/>
        <p:txBody>
          <a:bodyPr/>
          <a:lstStyle/>
          <a:p>
            <a:r>
              <a:rPr lang="en-US" dirty="0"/>
              <a:t>
              </a:t>
            </a:r>
          </a:p>
        </p:txBody>
      </p:sp>
      <p:pic>
        <p:nvPicPr>
          <p:cNvPr id="7" name="Picture 6" descr="A screen shot of a diagram&#10;&#10;AI-generated content may be incorrect.">
            <a:extLst>
              <a:ext uri="{FF2B5EF4-FFF2-40B4-BE49-F238E27FC236}">
                <a16:creationId xmlns:a16="http://schemas.microsoft.com/office/drawing/2014/main" id="{AF653FD5-BA08-ED0C-859A-2E5A64B8B9ED}"/>
              </a:ext>
            </a:extLst>
          </p:cNvPr>
          <p:cNvPicPr>
            <a:picLocks noChangeAspect="1"/>
          </p:cNvPicPr>
          <p:nvPr/>
        </p:nvPicPr>
        <p:blipFill>
          <a:blip r:embed="rId2"/>
          <a:stretch>
            <a:fillRect/>
          </a:stretch>
        </p:blipFill>
        <p:spPr>
          <a:xfrm>
            <a:off x="4938713" y="679133"/>
            <a:ext cx="6136767" cy="5518023"/>
          </a:xfrm>
          <a:prstGeom prst="rect">
            <a:avLst/>
          </a:prstGeom>
        </p:spPr>
      </p:pic>
    </p:spTree>
    <p:extLst>
      <p:ext uri="{BB962C8B-B14F-4D97-AF65-F5344CB8AC3E}">
        <p14:creationId xmlns:p14="http://schemas.microsoft.com/office/powerpoint/2010/main" val="264434171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D023F-FD97-B616-FE93-7A14347142D3}"/>
              </a:ext>
            </a:extLst>
          </p:cNvPr>
          <p:cNvSpPr>
            <a:spLocks noGrp="1"/>
          </p:cNvSpPr>
          <p:nvPr>
            <p:ph type="title"/>
          </p:nvPr>
        </p:nvSpPr>
        <p:spPr/>
        <p:txBody>
          <a:bodyPr/>
          <a:lstStyle/>
          <a:p>
            <a:r>
              <a:rPr lang="en-US" dirty="0"/>
              <a:t>Summary of Eda results</a:t>
            </a:r>
          </a:p>
        </p:txBody>
      </p:sp>
      <p:sp>
        <p:nvSpPr>
          <p:cNvPr id="3" name="Content Placeholder 2">
            <a:extLst>
              <a:ext uri="{FF2B5EF4-FFF2-40B4-BE49-F238E27FC236}">
                <a16:creationId xmlns:a16="http://schemas.microsoft.com/office/drawing/2014/main" id="{8C4A1E7C-B180-26A8-F29F-E5BCC69F4C79}"/>
              </a:ext>
            </a:extLst>
          </p:cNvPr>
          <p:cNvSpPr>
            <a:spLocks noGrp="1"/>
          </p:cNvSpPr>
          <p:nvPr>
            <p:ph idx="1"/>
          </p:nvPr>
        </p:nvSpPr>
        <p:spPr>
          <a:xfrm>
            <a:off x="719449" y="1606385"/>
            <a:ext cx="10672451" cy="4473347"/>
          </a:xfrm>
        </p:spPr>
        <p:txBody>
          <a:bodyPr vert="horz" lIns="91440" tIns="45720" rIns="91440" bIns="45720" rtlCol="0" anchor="t">
            <a:normAutofit fontScale="92500" lnSpcReduction="20000"/>
          </a:bodyPr>
          <a:lstStyle/>
          <a:p>
            <a:pPr>
              <a:lnSpc>
                <a:spcPct val="220000"/>
              </a:lnSpc>
            </a:pPr>
            <a:r>
              <a:rPr lang="en-US" b="1" dirty="0">
                <a:ea typeface="+mn-lt"/>
                <a:cs typeface="+mn-lt"/>
              </a:rPr>
              <a:t>Feature Relationships:</a:t>
            </a:r>
            <a:r>
              <a:rPr lang="en-US" dirty="0">
                <a:ea typeface="+mn-lt"/>
                <a:cs typeface="+mn-lt"/>
              </a:rPr>
              <a:t> The correlation heatmap indicates that features are weakly correlated with the target variable diabetes, and each other. Suggesting that no single clinical factor stands out and our future model will likely need to capture complex, non-linear interactions between multiple variables.</a:t>
            </a:r>
            <a:endParaRPr lang="en-US" dirty="0"/>
          </a:p>
          <a:p>
            <a:pPr>
              <a:lnSpc>
                <a:spcPct val="220000"/>
              </a:lnSpc>
            </a:pPr>
            <a:r>
              <a:rPr lang="en-US" b="1" dirty="0">
                <a:ea typeface="+mn-lt"/>
                <a:cs typeface="+mn-lt"/>
              </a:rPr>
              <a:t>Data Integrity:</a:t>
            </a:r>
            <a:r>
              <a:rPr lang="en-US" dirty="0">
                <a:ea typeface="+mn-lt"/>
                <a:cs typeface="+mn-lt"/>
              </a:rPr>
              <a:t> We successfully identified and handled "hidden zeros" in BMI and blood pressure. These were treated as missing data and resolved using grouped median imputation based on age, ensuring our clinical ranges are reasonable.</a:t>
            </a:r>
            <a:endParaRPr lang="en-US" dirty="0"/>
          </a:p>
          <a:p>
            <a:pPr>
              <a:lnSpc>
                <a:spcPct val="220000"/>
              </a:lnSpc>
            </a:pPr>
            <a:endParaRPr lang="en-US" dirty="0"/>
          </a:p>
          <a:p>
            <a:endParaRPr lang="en-US" dirty="0"/>
          </a:p>
        </p:txBody>
      </p:sp>
      <p:sp>
        <p:nvSpPr>
          <p:cNvPr id="5" name="Footer Placeholder 4">
            <a:extLst>
              <a:ext uri="{FF2B5EF4-FFF2-40B4-BE49-F238E27FC236}">
                <a16:creationId xmlns:a16="http://schemas.microsoft.com/office/drawing/2014/main" id="{AE4FB2D8-3346-BB8E-60F9-602B48D43B03}"/>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318558443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044A-4BFA-2E95-E71F-566C4E6550A4}"/>
              </a:ext>
            </a:extLst>
          </p:cNvPr>
          <p:cNvSpPr>
            <a:spLocks noGrp="1"/>
          </p:cNvSpPr>
          <p:nvPr>
            <p:ph type="title"/>
          </p:nvPr>
        </p:nvSpPr>
        <p:spPr/>
        <p:txBody>
          <a:bodyPr/>
          <a:lstStyle/>
          <a:p>
            <a:r>
              <a:rPr lang="en-US" dirty="0"/>
              <a:t>Summary of Eda results Continued</a:t>
            </a:r>
          </a:p>
        </p:txBody>
      </p:sp>
      <p:sp>
        <p:nvSpPr>
          <p:cNvPr id="3" name="Content Placeholder 2">
            <a:extLst>
              <a:ext uri="{FF2B5EF4-FFF2-40B4-BE49-F238E27FC236}">
                <a16:creationId xmlns:a16="http://schemas.microsoft.com/office/drawing/2014/main" id="{CA9079B4-BEC1-5C83-2904-C9690695A12A}"/>
              </a:ext>
            </a:extLst>
          </p:cNvPr>
          <p:cNvSpPr>
            <a:spLocks noGrp="1"/>
          </p:cNvSpPr>
          <p:nvPr>
            <p:ph idx="1"/>
          </p:nvPr>
        </p:nvSpPr>
        <p:spPr>
          <a:xfrm>
            <a:off x="747672" y="1841570"/>
            <a:ext cx="10691265" cy="4201878"/>
          </a:xfrm>
        </p:spPr>
        <p:txBody>
          <a:bodyPr vert="horz" lIns="91440" tIns="45720" rIns="91440" bIns="45720" rtlCol="0" anchor="t">
            <a:noAutofit/>
          </a:bodyPr>
          <a:lstStyle/>
          <a:p>
            <a:pPr>
              <a:lnSpc>
                <a:spcPct val="220000"/>
              </a:lnSpc>
            </a:pPr>
            <a:r>
              <a:rPr lang="en-US" sz="1800" b="1" dirty="0"/>
              <a:t>Outlier Management:</a:t>
            </a:r>
            <a:r>
              <a:rPr lang="en-US" sz="1800" dirty="0"/>
              <a:t> Extreme values in BMI were detected using the IQR method. To preserve data volume while reducing variance, these values were capped at the calculated upper and lower bounds rather than being removed.</a:t>
            </a:r>
          </a:p>
          <a:p>
            <a:pPr>
              <a:lnSpc>
                <a:spcPct val="220000"/>
              </a:lnSpc>
            </a:pPr>
            <a:r>
              <a:rPr lang="en-US" sz="1800" b="1" dirty="0"/>
              <a:t>Target Balance:</a:t>
            </a:r>
            <a:r>
              <a:rPr lang="en-US" sz="1800" dirty="0"/>
              <a:t> The dataset is balanced, with approximately 50% of instances representing diabetic outcomes. This simplifies our future modeling phase as we won't need to apply specialized sampling techniques.</a:t>
            </a:r>
          </a:p>
        </p:txBody>
      </p:sp>
      <p:sp>
        <p:nvSpPr>
          <p:cNvPr id="5" name="Footer Placeholder 4">
            <a:extLst>
              <a:ext uri="{FF2B5EF4-FFF2-40B4-BE49-F238E27FC236}">
                <a16:creationId xmlns:a16="http://schemas.microsoft.com/office/drawing/2014/main" id="{347FCF53-688A-7BFC-42AD-AC5CA2E951F6}"/>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67025641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D407-74F8-D4CB-96E9-9CB5E99FC39E}"/>
              </a:ext>
            </a:extLst>
          </p:cNvPr>
          <p:cNvSpPr>
            <a:spLocks noGrp="1"/>
          </p:cNvSpPr>
          <p:nvPr>
            <p:ph type="title"/>
          </p:nvPr>
        </p:nvSpPr>
        <p:spPr/>
        <p:txBody>
          <a:bodyPr/>
          <a:lstStyle/>
          <a:p>
            <a:r>
              <a:rPr lang="en-US" dirty="0">
                <a:ea typeface="+mj-lt"/>
                <a:cs typeface="+mj-lt"/>
              </a:rPr>
              <a:t>Statistical Analysis &amp; Hypothesis  Testing </a:t>
            </a:r>
            <a:endParaRPr lang="en-US" dirty="0"/>
          </a:p>
        </p:txBody>
      </p:sp>
      <p:sp>
        <p:nvSpPr>
          <p:cNvPr id="3" name="Content Placeholder 2">
            <a:extLst>
              <a:ext uri="{FF2B5EF4-FFF2-40B4-BE49-F238E27FC236}">
                <a16:creationId xmlns:a16="http://schemas.microsoft.com/office/drawing/2014/main" id="{4529B505-7F04-AC37-0110-D7FF98BE6D2C}"/>
              </a:ext>
            </a:extLst>
          </p:cNvPr>
          <p:cNvSpPr>
            <a:spLocks noGrp="1"/>
          </p:cNvSpPr>
          <p:nvPr>
            <p:ph idx="1"/>
          </p:nvPr>
        </p:nvSpPr>
        <p:spPr>
          <a:xfrm>
            <a:off x="700635" y="1607127"/>
            <a:ext cx="10691265" cy="4322087"/>
          </a:xfrm>
        </p:spPr>
        <p:txBody>
          <a:bodyPr>
            <a:normAutofit fontScale="92500" lnSpcReduction="10000"/>
          </a:bodyPr>
          <a:lstStyle/>
          <a:p>
            <a:pPr lvl="0"/>
            <a:r>
              <a:rPr lang="en-US" b="1" dirty="0"/>
              <a:t>What is the importance of statistical testing</a:t>
            </a:r>
            <a:r>
              <a:rPr lang="en-US" b="0" dirty="0"/>
              <a:t>?</a:t>
            </a:r>
          </a:p>
          <a:p>
            <a:pPr lvl="1"/>
            <a:r>
              <a:rPr lang="en-US" dirty="0"/>
              <a:t>Asking questions and finding patterns within the data</a:t>
            </a:r>
          </a:p>
          <a:p>
            <a:pPr lvl="1"/>
            <a:r>
              <a:rPr lang="en-US" dirty="0"/>
              <a:t>Are there relationships between variables?</a:t>
            </a:r>
          </a:p>
          <a:p>
            <a:pPr lvl="1"/>
            <a:r>
              <a:rPr lang="en-US" dirty="0"/>
              <a:t>Are the relationships meaningful?</a:t>
            </a:r>
          </a:p>
          <a:p>
            <a:pPr lvl="0"/>
            <a:r>
              <a:rPr lang="en-US" b="1" dirty="0"/>
              <a:t>Rules for every test</a:t>
            </a:r>
            <a:r>
              <a:rPr lang="en-US" b="0" dirty="0"/>
              <a:t>:</a:t>
            </a:r>
          </a:p>
          <a:p>
            <a:pPr lvl="1">
              <a:buFont typeface="Courier New" panose="02070309020205020404" pitchFamily="49" charset="0"/>
              <a:buChar char="o"/>
            </a:pPr>
            <a:r>
              <a:rPr lang="en-US" dirty="0"/>
              <a:t>Null Hypothesis – typically assuming that there is no relationship</a:t>
            </a:r>
          </a:p>
          <a:p>
            <a:pPr lvl="1">
              <a:buFont typeface="Courier New" panose="02070309020205020404" pitchFamily="49" charset="0"/>
              <a:buChar char="o"/>
            </a:pPr>
            <a:r>
              <a:rPr lang="en-US" dirty="0"/>
              <a:t>Alternate Hypothesis – assuming whatever relationship we are testing for</a:t>
            </a:r>
          </a:p>
          <a:p>
            <a:pPr lvl="1">
              <a:buFont typeface="Courier New" panose="02070309020205020404" pitchFamily="49" charset="0"/>
              <a:buChar char="o"/>
            </a:pPr>
            <a:r>
              <a:rPr lang="en-US" dirty="0"/>
              <a:t>Significance level – every test here is a 0.05 significance level, meaning we accept a 5% chance of being wrong about our test</a:t>
            </a:r>
          </a:p>
          <a:p>
            <a:pPr lvl="1">
              <a:buFont typeface="Courier New" panose="02070309020205020404" pitchFamily="49" charset="0"/>
              <a:buChar char="o"/>
            </a:pPr>
            <a:r>
              <a:rPr lang="en-US" dirty="0"/>
              <a:t>Correlation Scale: </a:t>
            </a:r>
          </a:p>
          <a:p>
            <a:pPr lvl="2"/>
            <a:r>
              <a:rPr lang="en-US" dirty="0"/>
              <a:t>+1 = Strong positive relationship</a:t>
            </a:r>
          </a:p>
          <a:p>
            <a:pPr lvl="2"/>
            <a:r>
              <a:rPr lang="en-US" dirty="0"/>
              <a:t>0 = No relationship</a:t>
            </a:r>
          </a:p>
          <a:p>
            <a:pPr lvl="2"/>
            <a:r>
              <a:rPr lang="en-US" dirty="0"/>
              <a:t>-1 = Strong negative relationship</a:t>
            </a:r>
          </a:p>
          <a:p>
            <a:pPr lvl="2"/>
            <a:endParaRPr lang="en-US" dirty="0"/>
          </a:p>
        </p:txBody>
      </p:sp>
    </p:spTree>
    <p:extLst>
      <p:ext uri="{BB962C8B-B14F-4D97-AF65-F5344CB8AC3E}">
        <p14:creationId xmlns:p14="http://schemas.microsoft.com/office/powerpoint/2010/main" val="19524616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6F4F-34FB-21DC-25AA-F5FF5D7D0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58BD-4A60-7D99-F406-810341255FEB}"/>
              </a:ext>
            </a:extLst>
          </p:cNvPr>
          <p:cNvSpPr>
            <a:spLocks noGrp="1"/>
          </p:cNvSpPr>
          <p:nvPr>
            <p:ph type="title"/>
          </p:nvPr>
        </p:nvSpPr>
        <p:spPr>
          <a:xfrm>
            <a:off x="1535813" y="852229"/>
            <a:ext cx="9120373" cy="1127930"/>
          </a:xfrm>
        </p:spPr>
        <p:txBody>
          <a:bodyPr anchor="t">
            <a:normAutofit/>
          </a:bodyPr>
          <a:lstStyle/>
          <a:p>
            <a:r>
              <a:rPr lang="en-US" dirty="0"/>
              <a:t>Test 1 – T-Test (Glucose vs. Diabetes)</a:t>
            </a:r>
          </a:p>
        </p:txBody>
      </p:sp>
      <p:sp>
        <p:nvSpPr>
          <p:cNvPr id="5" name="Footer Placeholder 4">
            <a:extLst>
              <a:ext uri="{FF2B5EF4-FFF2-40B4-BE49-F238E27FC236}">
                <a16:creationId xmlns:a16="http://schemas.microsoft.com/office/drawing/2014/main" id="{BEE1DE5D-2A28-E471-D7B2-F674E2B8EE3E}"/>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dirty="0"/>
              <a:t>
              </a:t>
            </a:r>
          </a:p>
        </p:txBody>
      </p:sp>
      <p:sp>
        <p:nvSpPr>
          <p:cNvPr id="3" name="Content Placeholder 2">
            <a:extLst>
              <a:ext uri="{FF2B5EF4-FFF2-40B4-BE49-F238E27FC236}">
                <a16:creationId xmlns:a16="http://schemas.microsoft.com/office/drawing/2014/main" id="{3975D242-4080-64B5-D4FF-80F3EB311925}"/>
              </a:ext>
            </a:extLst>
          </p:cNvPr>
          <p:cNvSpPr>
            <a:spLocks noGrp="1"/>
          </p:cNvSpPr>
          <p:nvPr>
            <p:ph sz="half" idx="2"/>
          </p:nvPr>
        </p:nvSpPr>
        <p:spPr>
          <a:xfrm>
            <a:off x="895925" y="1422398"/>
            <a:ext cx="10489830" cy="4712931"/>
          </a:xfrm>
        </p:spPr>
        <p:txBody>
          <a:bodyPr>
            <a:normAutofit lnSpcReduction="10000"/>
          </a:bodyPr>
          <a:lstStyle/>
          <a:p>
            <a:pPr lvl="0"/>
            <a:r>
              <a:rPr lang="en-US" sz="1400" b="1" dirty="0"/>
              <a:t>Question</a:t>
            </a:r>
            <a:endParaRPr lang="en-US" sz="1400" dirty="0"/>
          </a:p>
          <a:p>
            <a:pPr lvl="1">
              <a:buFont typeface="Courier New" panose="02070309020205020404" pitchFamily="49" charset="0"/>
              <a:buChar char="o"/>
            </a:pPr>
            <a:r>
              <a:rPr lang="en-US" sz="1400" dirty="0"/>
              <a:t>Do people with diabetes have different average glucose levels than those without?</a:t>
            </a:r>
          </a:p>
          <a:p>
            <a:pPr lvl="0"/>
            <a:r>
              <a:rPr lang="en-US" sz="1400" b="1" dirty="0"/>
              <a:t>Why this Test</a:t>
            </a:r>
            <a:endParaRPr lang="en-US" sz="1400" dirty="0"/>
          </a:p>
          <a:p>
            <a:pPr lvl="1">
              <a:buFont typeface="Courier New" panose="02070309020205020404" pitchFamily="49" charset="0"/>
              <a:buChar char="o"/>
            </a:pPr>
            <a:r>
              <a:rPr lang="en-US" sz="1400" dirty="0"/>
              <a:t>We are comparing average values between two unrelated groups to check if those values change significantly with each other. </a:t>
            </a:r>
          </a:p>
          <a:p>
            <a:pPr lvl="0"/>
            <a:r>
              <a:rPr lang="en-US" sz="1400" b="1" i="0" dirty="0"/>
              <a:t>Hypotheses</a:t>
            </a:r>
          </a:p>
          <a:p>
            <a:pPr lvl="1">
              <a:buFont typeface="Courier New" panose="02070309020205020404" pitchFamily="49" charset="0"/>
              <a:buChar char="o"/>
            </a:pPr>
            <a:r>
              <a:rPr lang="en-US" sz="1400" b="1" dirty="0"/>
              <a:t>Null</a:t>
            </a:r>
            <a:r>
              <a:rPr lang="en-US" sz="1400" dirty="0"/>
              <a:t>: There is </a:t>
            </a:r>
            <a:r>
              <a:rPr lang="en-US" sz="1400" b="1" dirty="0"/>
              <a:t>no</a:t>
            </a:r>
            <a:r>
              <a:rPr lang="en-US" sz="1400" dirty="0"/>
              <a:t> difference in glucose levels.</a:t>
            </a:r>
          </a:p>
          <a:p>
            <a:pPr lvl="1">
              <a:buFont typeface="Courier New" panose="02070309020205020404" pitchFamily="49" charset="0"/>
              <a:buChar char="o"/>
            </a:pPr>
            <a:r>
              <a:rPr lang="en-US" sz="1400" b="1" dirty="0"/>
              <a:t>Alternate</a:t>
            </a:r>
            <a:r>
              <a:rPr lang="en-US" sz="1400" dirty="0"/>
              <a:t>: There </a:t>
            </a:r>
            <a:r>
              <a:rPr lang="en-US" sz="1400" b="1" dirty="0"/>
              <a:t>is</a:t>
            </a:r>
            <a:r>
              <a:rPr lang="en-US" sz="1400" dirty="0"/>
              <a:t> a difference in glucose levels.</a:t>
            </a:r>
          </a:p>
          <a:p>
            <a:pPr lvl="0">
              <a:buFont typeface="Courier New" panose="02070309020205020404" pitchFamily="49" charset="0"/>
              <a:buChar char="o"/>
            </a:pPr>
            <a:r>
              <a:rPr lang="en-US" sz="1400" b="1" dirty="0"/>
              <a:t>Results</a:t>
            </a:r>
            <a:endParaRPr lang="en-US" sz="1400" dirty="0"/>
          </a:p>
          <a:p>
            <a:pPr lvl="1">
              <a:buFont typeface="Courier New" panose="02070309020205020404" pitchFamily="49" charset="0"/>
              <a:buChar char="o"/>
            </a:pPr>
            <a:r>
              <a:rPr lang="en-US" sz="1400" dirty="0"/>
              <a:t>T-Statistic: -0.6286</a:t>
            </a:r>
          </a:p>
          <a:p>
            <a:pPr lvl="1">
              <a:buFont typeface="Courier New" panose="02070309020205020404" pitchFamily="49" charset="0"/>
              <a:buChar char="o"/>
            </a:pPr>
            <a:r>
              <a:rPr lang="en-US" sz="1400" dirty="0"/>
              <a:t>P-Value: 0.53</a:t>
            </a:r>
          </a:p>
          <a:p>
            <a:pPr lvl="0"/>
            <a:r>
              <a:rPr lang="en-US" sz="1400" b="1" dirty="0"/>
              <a:t>Interpretation</a:t>
            </a:r>
            <a:r>
              <a:rPr lang="en-US" sz="1400" dirty="0"/>
              <a:t> </a:t>
            </a:r>
          </a:p>
          <a:p>
            <a:pPr lvl="1">
              <a:buFont typeface="Courier New" panose="02070309020205020404" pitchFamily="49" charset="0"/>
              <a:buChar char="o"/>
            </a:pPr>
            <a:r>
              <a:rPr lang="en-US" sz="1400" dirty="0"/>
              <a:t>0.53 P-Value means there’s a 53% chance that any relationship between glucose and diabetes is random. </a:t>
            </a:r>
          </a:p>
          <a:p>
            <a:pPr lvl="0"/>
            <a:r>
              <a:rPr lang="en-US" sz="1400" b="1" dirty="0"/>
              <a:t>Decision</a:t>
            </a:r>
            <a:r>
              <a:rPr lang="en-US" sz="1400" dirty="0"/>
              <a:t> </a:t>
            </a:r>
          </a:p>
          <a:p>
            <a:pPr lvl="1">
              <a:buFont typeface="Courier New" panose="02070309020205020404" pitchFamily="49" charset="0"/>
              <a:buChar char="o"/>
            </a:pPr>
            <a:r>
              <a:rPr lang="en-US" sz="1400" dirty="0"/>
              <a:t>0.53 &gt; 0.05, we fail to reject the null hypothesis. Meaning there is </a:t>
            </a:r>
            <a:r>
              <a:rPr lang="en-US" sz="1400" b="1" dirty="0"/>
              <a:t>no</a:t>
            </a:r>
            <a:r>
              <a:rPr lang="en-US" sz="1400" dirty="0"/>
              <a:t> significant difference in glucose levels between diabetics and non-diabetics in this dataset.</a:t>
            </a:r>
          </a:p>
        </p:txBody>
      </p:sp>
    </p:spTree>
    <p:extLst>
      <p:ext uri="{BB962C8B-B14F-4D97-AF65-F5344CB8AC3E}">
        <p14:creationId xmlns:p14="http://schemas.microsoft.com/office/powerpoint/2010/main" val="78103675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C41B-722F-BEC1-9590-1F06E202C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85138-25C3-32AB-CCB7-75671C70D2CE}"/>
              </a:ext>
            </a:extLst>
          </p:cNvPr>
          <p:cNvSpPr>
            <a:spLocks noGrp="1"/>
          </p:cNvSpPr>
          <p:nvPr>
            <p:ph type="title"/>
          </p:nvPr>
        </p:nvSpPr>
        <p:spPr>
          <a:xfrm>
            <a:off x="700635" y="922096"/>
            <a:ext cx="10691265" cy="1371030"/>
          </a:xfrm>
        </p:spPr>
        <p:txBody>
          <a:bodyPr anchor="t">
            <a:normAutofit/>
          </a:bodyPr>
          <a:lstStyle/>
          <a:p>
            <a:r>
              <a:rPr lang="en-US" dirty="0"/>
              <a:t>Test 2 – Chi-Square (Gender vs. Diabetes)</a:t>
            </a:r>
          </a:p>
        </p:txBody>
      </p:sp>
      <p:sp>
        <p:nvSpPr>
          <p:cNvPr id="5" name="Footer Placeholder 4">
            <a:extLst>
              <a:ext uri="{FF2B5EF4-FFF2-40B4-BE49-F238E27FC236}">
                <a16:creationId xmlns:a16="http://schemas.microsoft.com/office/drawing/2014/main" id="{E45DB63F-53F4-D3AB-DED3-791244AD3D35}"/>
              </a:ext>
            </a:extLst>
          </p:cNvPr>
          <p:cNvSpPr>
            <a:spLocks noGrp="1"/>
          </p:cNvSpPr>
          <p:nvPr>
            <p:ph type="ftr" sz="quarter" idx="11"/>
          </p:nvPr>
        </p:nvSpPr>
        <p:spPr>
          <a:xfrm>
            <a:off x="715383" y="6356350"/>
            <a:ext cx="4539727" cy="365125"/>
          </a:xfrm>
        </p:spPr>
        <p:txBody>
          <a:bodyPr anchor="ctr">
            <a:normAutofit/>
          </a:bodyPr>
          <a:lstStyle/>
          <a:p>
            <a:pPr>
              <a:lnSpc>
                <a:spcPct val="90000"/>
              </a:lnSpc>
              <a:spcAft>
                <a:spcPts val="600"/>
              </a:spcAft>
            </a:pPr>
            <a:r>
              <a:rPr lang="en-US" sz="700" dirty="0"/>
              <a:t>
              </a:t>
            </a:r>
          </a:p>
        </p:txBody>
      </p:sp>
      <p:sp>
        <p:nvSpPr>
          <p:cNvPr id="3" name="Content Placeholder 2">
            <a:extLst>
              <a:ext uri="{FF2B5EF4-FFF2-40B4-BE49-F238E27FC236}">
                <a16:creationId xmlns:a16="http://schemas.microsoft.com/office/drawing/2014/main" id="{9107FA59-EA54-AF66-7215-233429877440}"/>
              </a:ext>
            </a:extLst>
          </p:cNvPr>
          <p:cNvSpPr>
            <a:spLocks noGrp="1"/>
          </p:cNvSpPr>
          <p:nvPr>
            <p:ph idx="1"/>
          </p:nvPr>
        </p:nvSpPr>
        <p:spPr>
          <a:xfrm>
            <a:off x="700636" y="1588656"/>
            <a:ext cx="10691264" cy="4461162"/>
          </a:xfrm>
        </p:spPr>
        <p:txBody>
          <a:bodyPr>
            <a:normAutofit fontScale="77500" lnSpcReduction="20000"/>
          </a:bodyPr>
          <a:lstStyle/>
          <a:p>
            <a:pPr lvl="0"/>
            <a:r>
              <a:rPr lang="en-US" b="1" dirty="0"/>
              <a:t>Question</a:t>
            </a:r>
            <a:endParaRPr lang="en-US" dirty="0"/>
          </a:p>
          <a:p>
            <a:pPr lvl="1">
              <a:buFont typeface="Courier New" panose="02070309020205020404" pitchFamily="49" charset="0"/>
              <a:buChar char="o"/>
            </a:pPr>
            <a:r>
              <a:rPr lang="en-US" dirty="0"/>
              <a:t>Does gender affect diabetes status?</a:t>
            </a:r>
          </a:p>
          <a:p>
            <a:pPr lvl="0"/>
            <a:r>
              <a:rPr lang="en-US" b="1" dirty="0"/>
              <a:t>Why this test</a:t>
            </a:r>
            <a:endParaRPr lang="en-US" dirty="0"/>
          </a:p>
          <a:p>
            <a:pPr lvl="1">
              <a:buFont typeface="Courier New" panose="02070309020205020404" pitchFamily="49" charset="0"/>
              <a:buChar char="o"/>
            </a:pPr>
            <a:r>
              <a:rPr lang="en-US" dirty="0"/>
              <a:t>We are checking if there is a relationship between two categorical (non-numerical) variables.</a:t>
            </a:r>
          </a:p>
          <a:p>
            <a:pPr lvl="0"/>
            <a:r>
              <a:rPr lang="en-US" b="1" dirty="0"/>
              <a:t>Hypotheses</a:t>
            </a:r>
            <a:r>
              <a:rPr lang="en-US" dirty="0"/>
              <a:t> </a:t>
            </a:r>
          </a:p>
          <a:p>
            <a:pPr lvl="1">
              <a:buFont typeface="Courier New" panose="02070309020205020404" pitchFamily="49" charset="0"/>
              <a:buChar char="o"/>
            </a:pPr>
            <a:r>
              <a:rPr lang="en-US" b="1" dirty="0"/>
              <a:t>Null</a:t>
            </a:r>
            <a:r>
              <a:rPr lang="en-US" dirty="0"/>
              <a:t>: Gender and diabetes are </a:t>
            </a:r>
            <a:r>
              <a:rPr lang="en-US" b="1" dirty="0"/>
              <a:t>not</a:t>
            </a:r>
            <a:r>
              <a:rPr lang="en-US" dirty="0"/>
              <a:t> related.</a:t>
            </a:r>
          </a:p>
          <a:p>
            <a:pPr lvl="1">
              <a:buFont typeface="Courier New" panose="02070309020205020404" pitchFamily="49" charset="0"/>
              <a:buChar char="o"/>
            </a:pPr>
            <a:r>
              <a:rPr lang="en-US" b="1" dirty="0"/>
              <a:t>Alternate</a:t>
            </a:r>
            <a:r>
              <a:rPr lang="en-US" dirty="0"/>
              <a:t>: Gender and diabetes </a:t>
            </a:r>
            <a:r>
              <a:rPr lang="en-US" b="1" dirty="0"/>
              <a:t>are</a:t>
            </a:r>
            <a:r>
              <a:rPr lang="en-US" dirty="0"/>
              <a:t> related.</a:t>
            </a:r>
          </a:p>
          <a:p>
            <a:pPr lvl="0"/>
            <a:r>
              <a:rPr lang="en-US" b="1" dirty="0"/>
              <a:t>Results</a:t>
            </a:r>
            <a:endParaRPr lang="en-US" dirty="0"/>
          </a:p>
          <a:p>
            <a:pPr lvl="1">
              <a:buFont typeface="Courier New" panose="02070309020205020404" pitchFamily="49" charset="0"/>
              <a:buChar char="o"/>
            </a:pPr>
            <a:r>
              <a:rPr lang="en-US" dirty="0"/>
              <a:t>Chi-Square: 2.3265</a:t>
            </a:r>
          </a:p>
          <a:p>
            <a:pPr lvl="1">
              <a:buFont typeface="Courier New" panose="02070309020205020404" pitchFamily="49" charset="0"/>
              <a:buChar char="o"/>
            </a:pPr>
            <a:r>
              <a:rPr lang="en-US" dirty="0"/>
              <a:t>P-Value: 0.13</a:t>
            </a:r>
          </a:p>
          <a:p>
            <a:pPr lvl="1">
              <a:buFont typeface="Courier New" panose="02070309020205020404" pitchFamily="49" charset="0"/>
              <a:buChar char="o"/>
            </a:pPr>
            <a:r>
              <a:rPr lang="en-US" dirty="0"/>
              <a:t>Degrees of Freedom: 1</a:t>
            </a:r>
          </a:p>
          <a:p>
            <a:pPr lvl="0"/>
            <a:r>
              <a:rPr lang="en-US" b="1" dirty="0"/>
              <a:t>Interpretation</a:t>
            </a:r>
            <a:endParaRPr lang="en-US" dirty="0"/>
          </a:p>
          <a:p>
            <a:pPr lvl="1">
              <a:buFont typeface="Courier New" panose="02070309020205020404" pitchFamily="49" charset="0"/>
              <a:buChar char="o"/>
            </a:pPr>
            <a:r>
              <a:rPr lang="en-US" dirty="0"/>
              <a:t>0.13 P-Value means there’s a 13% chance that any relationship between gender and diabetes is random.</a:t>
            </a:r>
          </a:p>
          <a:p>
            <a:pPr lvl="0"/>
            <a:r>
              <a:rPr lang="en-US" b="1" dirty="0"/>
              <a:t>Decision</a:t>
            </a:r>
            <a:endParaRPr lang="en-US" dirty="0"/>
          </a:p>
          <a:p>
            <a:pPr lvl="1">
              <a:buFont typeface="Courier New" panose="02070309020205020404" pitchFamily="49" charset="0"/>
              <a:buChar char="o"/>
            </a:pPr>
            <a:r>
              <a:rPr lang="en-US" dirty="0"/>
              <a:t>0.13 &gt; 0.05, fail to reject the null hypothesis. Gender and diabetes are not significantly related in this dataset. </a:t>
            </a:r>
          </a:p>
        </p:txBody>
      </p:sp>
    </p:spTree>
    <p:extLst>
      <p:ext uri="{BB962C8B-B14F-4D97-AF65-F5344CB8AC3E}">
        <p14:creationId xmlns:p14="http://schemas.microsoft.com/office/powerpoint/2010/main" val="322009170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D49E-8C38-971C-94A1-445C44584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38444-6AEA-5B25-C7A5-60901DB58D9B}"/>
              </a:ext>
            </a:extLst>
          </p:cNvPr>
          <p:cNvSpPr>
            <a:spLocks noGrp="1"/>
          </p:cNvSpPr>
          <p:nvPr>
            <p:ph type="title"/>
          </p:nvPr>
        </p:nvSpPr>
        <p:spPr/>
        <p:txBody>
          <a:bodyPr/>
          <a:lstStyle/>
          <a:p>
            <a:r>
              <a:rPr lang="en-US" dirty="0"/>
              <a:t>Test 3 – Correlation (BMI vs. Glucose)</a:t>
            </a:r>
          </a:p>
        </p:txBody>
      </p:sp>
      <p:sp>
        <p:nvSpPr>
          <p:cNvPr id="5" name="Footer Placeholder 4">
            <a:extLst>
              <a:ext uri="{FF2B5EF4-FFF2-40B4-BE49-F238E27FC236}">
                <a16:creationId xmlns:a16="http://schemas.microsoft.com/office/drawing/2014/main" id="{1A456FF1-CB31-61C8-9475-EEC4D122A9DE}"/>
              </a:ext>
            </a:extLst>
          </p:cNvPr>
          <p:cNvSpPr>
            <a:spLocks noGrp="1"/>
          </p:cNvSpPr>
          <p:nvPr>
            <p:ph type="ftr" sz="quarter" idx="11"/>
          </p:nvPr>
        </p:nvSpPr>
        <p:spPr/>
        <p:txBody>
          <a:bodyPr/>
          <a:lstStyle/>
          <a:p>
            <a:r>
              <a:rPr lang="en-US" dirty="0"/>
              <a:t>
              </a:t>
            </a:r>
          </a:p>
        </p:txBody>
      </p:sp>
      <p:sp>
        <p:nvSpPr>
          <p:cNvPr id="3" name="Content Placeholder 2">
            <a:extLst>
              <a:ext uri="{FF2B5EF4-FFF2-40B4-BE49-F238E27FC236}">
                <a16:creationId xmlns:a16="http://schemas.microsoft.com/office/drawing/2014/main" id="{7F8998EA-E8BF-95E8-AED2-7D82121CDC14}"/>
              </a:ext>
            </a:extLst>
          </p:cNvPr>
          <p:cNvSpPr>
            <a:spLocks noGrp="1"/>
          </p:cNvSpPr>
          <p:nvPr>
            <p:ph idx="1"/>
          </p:nvPr>
        </p:nvSpPr>
        <p:spPr>
          <a:xfrm>
            <a:off x="700635" y="1560945"/>
            <a:ext cx="10540019" cy="4498109"/>
          </a:xfrm>
        </p:spPr>
        <p:txBody>
          <a:bodyPr>
            <a:normAutofit fontScale="85000" lnSpcReduction="20000"/>
          </a:bodyPr>
          <a:lstStyle/>
          <a:p>
            <a:pPr lvl="0"/>
            <a:r>
              <a:rPr lang="en-US" b="1" dirty="0"/>
              <a:t>Question</a:t>
            </a:r>
            <a:endParaRPr lang="en-US" dirty="0"/>
          </a:p>
          <a:p>
            <a:pPr lvl="1">
              <a:buFont typeface="Courier New" panose="02070309020205020404" pitchFamily="49" charset="0"/>
              <a:buChar char="o"/>
            </a:pPr>
            <a:r>
              <a:rPr lang="en-US" dirty="0"/>
              <a:t>Do glucose and BMI levels have a linear relationship (increase or decrease together)?</a:t>
            </a:r>
          </a:p>
          <a:p>
            <a:pPr lvl="0"/>
            <a:r>
              <a:rPr lang="en-US" b="1" dirty="0"/>
              <a:t>Why this Test</a:t>
            </a:r>
            <a:endParaRPr lang="en-US" dirty="0"/>
          </a:p>
          <a:p>
            <a:pPr lvl="1">
              <a:buFont typeface="Courier New" panose="02070309020205020404" pitchFamily="49" charset="0"/>
              <a:buChar char="o"/>
            </a:pPr>
            <a:r>
              <a:rPr lang="en-US" dirty="0"/>
              <a:t>We are comparing two numerical variables to see how strongly (or weakly) they are related.</a:t>
            </a:r>
          </a:p>
          <a:p>
            <a:pPr lvl="0"/>
            <a:r>
              <a:rPr lang="en-US" b="1" dirty="0"/>
              <a:t>Hypotheses</a:t>
            </a:r>
            <a:endParaRPr lang="en-US" dirty="0"/>
          </a:p>
          <a:p>
            <a:pPr lvl="1">
              <a:buFont typeface="Courier New" panose="02070309020205020404" pitchFamily="49" charset="0"/>
              <a:buChar char="o"/>
            </a:pPr>
            <a:r>
              <a:rPr lang="en-US" b="1" dirty="0"/>
              <a:t>Null</a:t>
            </a:r>
            <a:r>
              <a:rPr lang="en-US" dirty="0"/>
              <a:t>: No correlation (correlation = 0)</a:t>
            </a:r>
          </a:p>
          <a:p>
            <a:pPr lvl="1">
              <a:buFont typeface="Courier New" panose="02070309020205020404" pitchFamily="49" charset="0"/>
              <a:buChar char="o"/>
            </a:pPr>
            <a:r>
              <a:rPr lang="en-US" b="1" dirty="0"/>
              <a:t>Alternate</a:t>
            </a:r>
            <a:r>
              <a:rPr lang="en-US" dirty="0"/>
              <a:t>: There is a correlation (correlation ≠ 0)</a:t>
            </a:r>
          </a:p>
          <a:p>
            <a:pPr lvl="0"/>
            <a:r>
              <a:rPr lang="en-US" b="1" dirty="0"/>
              <a:t>Results</a:t>
            </a:r>
            <a:endParaRPr lang="en-US" dirty="0"/>
          </a:p>
          <a:p>
            <a:pPr lvl="1">
              <a:buFont typeface="Courier New" panose="02070309020205020404" pitchFamily="49" charset="0"/>
              <a:buChar char="o"/>
            </a:pPr>
            <a:r>
              <a:rPr lang="en-US" dirty="0"/>
              <a:t>Correlation: 0.0025</a:t>
            </a:r>
          </a:p>
          <a:p>
            <a:pPr lvl="1">
              <a:buFont typeface="Courier New" panose="02070309020205020404" pitchFamily="49" charset="0"/>
              <a:buChar char="o"/>
            </a:pPr>
            <a:r>
              <a:rPr lang="en-US" dirty="0"/>
              <a:t>P-Value: 0.93</a:t>
            </a:r>
          </a:p>
          <a:p>
            <a:pPr lvl="0"/>
            <a:r>
              <a:rPr lang="en-US" b="1" dirty="0"/>
              <a:t>Interpretation</a:t>
            </a:r>
            <a:r>
              <a:rPr lang="en-US" dirty="0"/>
              <a:t> </a:t>
            </a:r>
          </a:p>
          <a:p>
            <a:pPr lvl="1">
              <a:buFont typeface="Courier New" panose="02070309020205020404" pitchFamily="49" charset="0"/>
              <a:buChar char="o"/>
            </a:pPr>
            <a:r>
              <a:rPr lang="en-US" dirty="0"/>
              <a:t>0.0025 is very close to zero, implying basically no correlation. 0.93 P-Value means that if there is any correlation there is a 93% chance it is random.</a:t>
            </a:r>
          </a:p>
          <a:p>
            <a:pPr lvl="0"/>
            <a:r>
              <a:rPr lang="en-US" b="1" dirty="0"/>
              <a:t>Decision</a:t>
            </a:r>
            <a:endParaRPr lang="en-US" dirty="0"/>
          </a:p>
          <a:p>
            <a:pPr lvl="1">
              <a:buFont typeface="Courier New" panose="02070309020205020404" pitchFamily="49" charset="0"/>
              <a:buChar char="o"/>
            </a:pPr>
            <a:r>
              <a:rPr lang="en-US" dirty="0"/>
              <a:t>0.93 &gt; 0.05, we fail to reject the null hypothesis. There is no correlation between BMI and Glucose.</a:t>
            </a:r>
          </a:p>
        </p:txBody>
      </p:sp>
    </p:spTree>
    <p:extLst>
      <p:ext uri="{BB962C8B-B14F-4D97-AF65-F5344CB8AC3E}">
        <p14:creationId xmlns:p14="http://schemas.microsoft.com/office/powerpoint/2010/main" val="164802991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D936-77FD-E2FB-7E43-40FA17667142}"/>
              </a:ext>
            </a:extLst>
          </p:cNvPr>
          <p:cNvSpPr>
            <a:spLocks noGrp="1"/>
          </p:cNvSpPr>
          <p:nvPr>
            <p:ph type="title"/>
          </p:nvPr>
        </p:nvSpPr>
        <p:spPr/>
        <p:txBody>
          <a:bodyPr/>
          <a:lstStyle/>
          <a:p>
            <a:r>
              <a:rPr lang="en-US" dirty="0"/>
              <a:t>Statistical Analysis Final Insights</a:t>
            </a:r>
          </a:p>
        </p:txBody>
      </p:sp>
      <p:sp>
        <p:nvSpPr>
          <p:cNvPr id="5" name="Footer Placeholder 4">
            <a:extLst>
              <a:ext uri="{FF2B5EF4-FFF2-40B4-BE49-F238E27FC236}">
                <a16:creationId xmlns:a16="http://schemas.microsoft.com/office/drawing/2014/main" id="{709EC35C-8F25-1C4F-9689-9C4D0466D7D9}"/>
              </a:ext>
            </a:extLst>
          </p:cNvPr>
          <p:cNvSpPr>
            <a:spLocks noGrp="1"/>
          </p:cNvSpPr>
          <p:nvPr>
            <p:ph type="ftr" sz="quarter" idx="11"/>
          </p:nvPr>
        </p:nvSpPr>
        <p:spPr/>
        <p:txBody>
          <a:bodyPr/>
          <a:lstStyle/>
          <a:p>
            <a:r>
              <a:rPr lang="en-US" dirty="0"/>
              <a:t>
              </a:t>
            </a:r>
          </a:p>
        </p:txBody>
      </p:sp>
      <p:sp>
        <p:nvSpPr>
          <p:cNvPr id="14" name="Content Placeholder 13">
            <a:extLst>
              <a:ext uri="{FF2B5EF4-FFF2-40B4-BE49-F238E27FC236}">
                <a16:creationId xmlns:a16="http://schemas.microsoft.com/office/drawing/2014/main" id="{682ACD52-6859-A507-200A-6C6E1CCE9B64}"/>
              </a:ext>
            </a:extLst>
          </p:cNvPr>
          <p:cNvSpPr>
            <a:spLocks noGrp="1"/>
          </p:cNvSpPr>
          <p:nvPr>
            <p:ph idx="1"/>
          </p:nvPr>
        </p:nvSpPr>
        <p:spPr>
          <a:xfrm>
            <a:off x="700635" y="1494503"/>
            <a:ext cx="10691265" cy="4630993"/>
          </a:xfrm>
        </p:spPr>
        <p:txBody>
          <a:bodyPr>
            <a:normAutofit/>
          </a:bodyPr>
          <a:lstStyle/>
          <a:p>
            <a:pPr lvl="0"/>
            <a:r>
              <a:rPr lang="en-US" b="1" dirty="0"/>
              <a:t>Test Results</a:t>
            </a:r>
            <a:r>
              <a:rPr lang="en-US" dirty="0"/>
              <a:t>:</a:t>
            </a:r>
          </a:p>
          <a:p>
            <a:pPr lvl="1">
              <a:buFont typeface="Courier New" panose="02070309020205020404" pitchFamily="49" charset="0"/>
              <a:buChar char="o"/>
            </a:pPr>
            <a:r>
              <a:rPr lang="en-US" dirty="0"/>
              <a:t>Test 1 – No difference</a:t>
            </a:r>
          </a:p>
          <a:p>
            <a:pPr lvl="1">
              <a:buFont typeface="Courier New" panose="02070309020205020404" pitchFamily="49" charset="0"/>
              <a:buChar char="o"/>
            </a:pPr>
            <a:r>
              <a:rPr lang="en-US" dirty="0"/>
              <a:t>Test 2 – No association</a:t>
            </a:r>
          </a:p>
          <a:p>
            <a:pPr lvl="1">
              <a:buFont typeface="Courier New" panose="02070309020205020404" pitchFamily="49" charset="0"/>
              <a:buChar char="o"/>
            </a:pPr>
            <a:r>
              <a:rPr lang="en-US" dirty="0"/>
              <a:t>Test 3 – No correlation</a:t>
            </a:r>
          </a:p>
          <a:p>
            <a:pPr lvl="0"/>
            <a:r>
              <a:rPr lang="en-US" b="1" dirty="0"/>
              <a:t>Conclusions</a:t>
            </a:r>
            <a:r>
              <a:rPr lang="en-US" dirty="0"/>
              <a:t>:</a:t>
            </a:r>
          </a:p>
          <a:p>
            <a:pPr lvl="1">
              <a:buFont typeface="Courier New" panose="02070309020205020404" pitchFamily="49" charset="0"/>
              <a:buChar char="o"/>
            </a:pPr>
            <a:r>
              <a:rPr lang="en-US" dirty="0"/>
              <a:t>Everything was statistically insignificant</a:t>
            </a:r>
          </a:p>
          <a:p>
            <a:pPr lvl="1">
              <a:buFont typeface="Courier New" panose="02070309020205020404" pitchFamily="49" charset="0"/>
              <a:buChar char="o"/>
            </a:pPr>
            <a:r>
              <a:rPr lang="en-US" dirty="0"/>
              <a:t>No real relationships are shown between any of the variables</a:t>
            </a:r>
          </a:p>
          <a:p>
            <a:pPr lvl="1">
              <a:buFont typeface="Courier New" panose="02070309020205020404" pitchFamily="49" charset="0"/>
              <a:buChar char="o"/>
            </a:pPr>
            <a:r>
              <a:rPr lang="en-US" dirty="0"/>
              <a:t>This lines up with the exploratory analysis conducted </a:t>
            </a:r>
          </a:p>
          <a:p>
            <a:pPr lvl="0"/>
            <a:r>
              <a:rPr lang="en-US" b="1" dirty="0"/>
              <a:t>Why this could have happened</a:t>
            </a:r>
            <a:r>
              <a:rPr lang="en-US" dirty="0"/>
              <a:t>:</a:t>
            </a:r>
          </a:p>
          <a:p>
            <a:pPr lvl="1">
              <a:buFont typeface="Courier New" panose="02070309020205020404" pitchFamily="49" charset="0"/>
              <a:buChar char="o"/>
            </a:pPr>
            <a:r>
              <a:rPr lang="en-US" dirty="0"/>
              <a:t>The dataset used is synthetic (randomly generated)</a:t>
            </a:r>
          </a:p>
          <a:p>
            <a:pPr lvl="1">
              <a:buFont typeface="Courier New" panose="02070309020205020404" pitchFamily="49" charset="0"/>
              <a:buChar char="o"/>
            </a:pPr>
            <a:r>
              <a:rPr lang="en-US" dirty="0"/>
              <a:t>Diabetes is complex and multiple variables effect it, and in the future tests that examine more than one or two variables at a time would need to be used.</a:t>
            </a:r>
          </a:p>
        </p:txBody>
      </p:sp>
    </p:spTree>
    <p:extLst>
      <p:ext uri="{BB962C8B-B14F-4D97-AF65-F5344CB8AC3E}">
        <p14:creationId xmlns:p14="http://schemas.microsoft.com/office/powerpoint/2010/main" val="416838697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BF6E6-BD69-8F0B-1A2C-E3813A81B8A7}"/>
              </a:ext>
            </a:extLst>
          </p:cNvPr>
          <p:cNvSpPr>
            <a:spLocks noGrp="1"/>
          </p:cNvSpPr>
          <p:nvPr>
            <p:ph type="title"/>
          </p:nvPr>
        </p:nvSpPr>
        <p:spPr>
          <a:xfrm>
            <a:off x="717823" y="710111"/>
            <a:ext cx="10691265" cy="1371030"/>
          </a:xfrm>
        </p:spPr>
        <p:txBody>
          <a:bodyPr/>
          <a:lstStyle/>
          <a:p>
            <a:r>
              <a:rPr lang="en-US" dirty="0"/>
              <a:t>Data Modeling</a:t>
            </a:r>
          </a:p>
        </p:txBody>
      </p:sp>
      <p:sp>
        <p:nvSpPr>
          <p:cNvPr id="3" name="Content Placeholder 2">
            <a:extLst>
              <a:ext uri="{FF2B5EF4-FFF2-40B4-BE49-F238E27FC236}">
                <a16:creationId xmlns:a16="http://schemas.microsoft.com/office/drawing/2014/main" id="{E648795D-377E-6234-9AA8-C9F6E10FA917}"/>
              </a:ext>
            </a:extLst>
          </p:cNvPr>
          <p:cNvSpPr>
            <a:spLocks noGrp="1"/>
          </p:cNvSpPr>
          <p:nvPr>
            <p:ph idx="1"/>
          </p:nvPr>
        </p:nvSpPr>
        <p:spPr>
          <a:xfrm>
            <a:off x="716800" y="1395697"/>
            <a:ext cx="7039834" cy="4661154"/>
          </a:xfrm>
        </p:spPr>
        <p:txBody>
          <a:bodyPr vert="horz" lIns="91440" tIns="45720" rIns="91440" bIns="45720" rtlCol="0" anchor="t">
            <a:normAutofit fontScale="62500" lnSpcReduction="20000"/>
          </a:bodyPr>
          <a:lstStyle/>
          <a:p>
            <a:pPr marL="0" indent="0">
              <a:buNone/>
            </a:pPr>
            <a:r>
              <a:rPr lang="en-US" u="sng" dirty="0"/>
              <a:t>Baseline models:</a:t>
            </a:r>
          </a:p>
          <a:p>
            <a:r>
              <a:rPr lang="en-US" b="1" dirty="0"/>
              <a:t>All three were performed to see which one would yield better results</a:t>
            </a:r>
            <a:r>
              <a:rPr lang="en-US" dirty="0"/>
              <a:t>. </a:t>
            </a:r>
          </a:p>
          <a:p>
            <a:pPr lvl="1">
              <a:buFont typeface="Courier New" panose="020B0604020202020204" pitchFamily="34" charset="0"/>
              <a:buChar char="o"/>
            </a:pPr>
            <a:r>
              <a:rPr lang="en-US" dirty="0"/>
              <a:t>logistic</a:t>
            </a:r>
            <a:r>
              <a:rPr lang="en-US" dirty="0">
                <a:ea typeface="+mn-lt"/>
                <a:cs typeface="+mn-lt"/>
              </a:rPr>
              <a:t> regression is the most suitable baseline model due to the higher accuracy and precision </a:t>
            </a:r>
          </a:p>
          <a:p>
            <a:r>
              <a:rPr lang="en-US" b="1" dirty="0"/>
              <a:t>Accuracy</a:t>
            </a:r>
          </a:p>
          <a:p>
            <a:pPr lvl="1">
              <a:buFont typeface="Courier New" panose="020B0604020202020204" pitchFamily="34" charset="0"/>
              <a:buChar char="o"/>
            </a:pPr>
            <a:r>
              <a:rPr lang="en-US" dirty="0"/>
              <a:t>Overall correctness </a:t>
            </a:r>
            <a:endParaRPr lang="en-US" dirty="0">
              <a:ea typeface="+mn-lt"/>
              <a:cs typeface="+mn-lt"/>
            </a:endParaRPr>
          </a:p>
          <a:p>
            <a:pPr lvl="1">
              <a:buFont typeface="Courier New" panose="020B0604020202020204" pitchFamily="34" charset="0"/>
              <a:buChar char="o"/>
            </a:pPr>
            <a:r>
              <a:rPr lang="en-US" dirty="0">
                <a:ea typeface="+mn-lt"/>
                <a:cs typeface="+mn-lt"/>
              </a:rPr>
              <a:t>Proportion of all predictions that are correct</a:t>
            </a:r>
            <a:endParaRPr lang="en-US" dirty="0"/>
          </a:p>
          <a:p>
            <a:r>
              <a:rPr lang="en-US" b="1" dirty="0"/>
              <a:t>Precision</a:t>
            </a:r>
          </a:p>
          <a:p>
            <a:pPr lvl="1">
              <a:buFont typeface="Courier New" panose="020B0604020202020204" pitchFamily="34" charset="0"/>
              <a:buChar char="o"/>
            </a:pPr>
            <a:r>
              <a:rPr lang="en-US" dirty="0">
                <a:ea typeface="+mn-lt"/>
                <a:cs typeface="+mn-lt"/>
              </a:rPr>
              <a:t>Exactness of positive predictions </a:t>
            </a:r>
          </a:p>
          <a:p>
            <a:pPr lvl="1">
              <a:buFont typeface="Courier New" panose="020B0604020202020204" pitchFamily="34" charset="0"/>
              <a:buChar char="o"/>
            </a:pPr>
            <a:r>
              <a:rPr lang="en-US" dirty="0">
                <a:ea typeface="+mn-lt"/>
                <a:cs typeface="+mn-lt"/>
              </a:rPr>
              <a:t>From all predicted "diabetes" cases, how many have diabetes?</a:t>
            </a:r>
          </a:p>
          <a:p>
            <a:r>
              <a:rPr lang="en-US" b="1" dirty="0">
                <a:ea typeface="+mn-lt"/>
                <a:cs typeface="+mn-lt"/>
              </a:rPr>
              <a:t>Recall</a:t>
            </a:r>
            <a:endParaRPr lang="en-US" b="1" dirty="0"/>
          </a:p>
          <a:p>
            <a:pPr lvl="1">
              <a:buFont typeface="Courier New" panose="020B0604020202020204" pitchFamily="34" charset="0"/>
              <a:buChar char="o"/>
            </a:pPr>
            <a:r>
              <a:rPr lang="en-US" dirty="0">
                <a:ea typeface="+mn-lt"/>
                <a:cs typeface="+mn-lt"/>
              </a:rPr>
              <a:t>Completeness of positive predictions </a:t>
            </a:r>
          </a:p>
          <a:p>
            <a:pPr lvl="1">
              <a:buFont typeface="Courier New" panose="020B0604020202020204" pitchFamily="34" charset="0"/>
              <a:buChar char="o"/>
            </a:pPr>
            <a:r>
              <a:rPr lang="en-US" dirty="0">
                <a:ea typeface="+mn-lt"/>
                <a:cs typeface="+mn-lt"/>
              </a:rPr>
              <a:t>From all actual diabetes cases, how many did we catch?</a:t>
            </a:r>
            <a:endParaRPr lang="en-US" dirty="0"/>
          </a:p>
          <a:p>
            <a:r>
              <a:rPr lang="en-US" b="1" dirty="0"/>
              <a:t>F1-score</a:t>
            </a:r>
          </a:p>
          <a:p>
            <a:pPr lvl="1">
              <a:buFont typeface="Courier New" panose="020B0604020202020204" pitchFamily="34" charset="0"/>
              <a:buChar char="o"/>
            </a:pPr>
            <a:r>
              <a:rPr lang="en-US" dirty="0">
                <a:ea typeface="+mn-lt"/>
                <a:cs typeface="+mn-lt"/>
              </a:rPr>
              <a:t>Harmonic mean of precision and recall </a:t>
            </a:r>
            <a:endParaRPr lang="en-US" sz="1600" dirty="0"/>
          </a:p>
          <a:p>
            <a:pPr lvl="1">
              <a:buFont typeface="Courier New" panose="020B0604020202020204" pitchFamily="34" charset="0"/>
              <a:buChar char="o"/>
            </a:pPr>
            <a:r>
              <a:rPr lang="en-US" dirty="0"/>
              <a:t>Looks at both </a:t>
            </a:r>
            <a:r>
              <a:rPr lang="en-US" dirty="0">
                <a:ea typeface="+mn-lt"/>
                <a:cs typeface="+mn-lt"/>
              </a:rPr>
              <a:t>false positives and false negatives.</a:t>
            </a:r>
            <a:endParaRPr lang="en-US" dirty="0"/>
          </a:p>
          <a:p>
            <a:r>
              <a:rPr lang="en-US" b="1" dirty="0"/>
              <a:t>ROC-AUC</a:t>
            </a:r>
          </a:p>
          <a:p>
            <a:pPr lvl="1">
              <a:buFont typeface="Courier New" panose="020B0604020202020204" pitchFamily="34" charset="0"/>
              <a:buChar char="o"/>
            </a:pPr>
            <a:r>
              <a:rPr lang="en-US" dirty="0">
                <a:ea typeface="+mn-lt"/>
                <a:cs typeface="+mn-lt"/>
              </a:rPr>
              <a:t>Ability to separate classes </a:t>
            </a:r>
          </a:p>
          <a:p>
            <a:pPr lvl="1">
              <a:buFont typeface="Courier New" panose="020B0604020202020204" pitchFamily="34" charset="0"/>
              <a:buChar char="o"/>
            </a:pPr>
            <a:r>
              <a:rPr lang="en-US" dirty="0">
                <a:ea typeface="+mn-lt"/>
                <a:cs typeface="+mn-lt"/>
              </a:rPr>
              <a:t>Probability that a random diabetic has a higher predicted score than a random non‑diabetic</a:t>
            </a:r>
          </a:p>
        </p:txBody>
      </p:sp>
      <p:sp>
        <p:nvSpPr>
          <p:cNvPr id="5" name="Footer Placeholder 4">
            <a:extLst>
              <a:ext uri="{FF2B5EF4-FFF2-40B4-BE49-F238E27FC236}">
                <a16:creationId xmlns:a16="http://schemas.microsoft.com/office/drawing/2014/main" id="{FFED364C-4548-AD0F-FC07-331B5F2F575F}"/>
              </a:ext>
            </a:extLst>
          </p:cNvPr>
          <p:cNvSpPr>
            <a:spLocks noGrp="1"/>
          </p:cNvSpPr>
          <p:nvPr>
            <p:ph type="ftr" sz="quarter" idx="11"/>
          </p:nvPr>
        </p:nvSpPr>
        <p:spPr/>
        <p:txBody>
          <a:bodyPr/>
          <a:lstStyle/>
          <a:p>
            <a:r>
              <a:rPr lang="en-US" dirty="0"/>
              <a:t>
              </a:t>
            </a:r>
          </a:p>
        </p:txBody>
      </p:sp>
      <p:pic>
        <p:nvPicPr>
          <p:cNvPr id="7" name="Picture 6" descr="A screenshot of a computer&#10;&#10;AI-generated content may be incorrect.">
            <a:extLst>
              <a:ext uri="{FF2B5EF4-FFF2-40B4-BE49-F238E27FC236}">
                <a16:creationId xmlns:a16="http://schemas.microsoft.com/office/drawing/2014/main" id="{A26BD464-DAE1-D305-AB09-21B825B463DD}"/>
              </a:ext>
            </a:extLst>
          </p:cNvPr>
          <p:cNvPicPr>
            <a:picLocks noChangeAspect="1"/>
          </p:cNvPicPr>
          <p:nvPr/>
        </p:nvPicPr>
        <p:blipFill>
          <a:blip r:embed="rId2"/>
          <a:stretch>
            <a:fillRect/>
          </a:stretch>
        </p:blipFill>
        <p:spPr>
          <a:xfrm>
            <a:off x="7888738" y="1395626"/>
            <a:ext cx="3951275" cy="4130812"/>
          </a:xfrm>
          <a:prstGeom prst="rect">
            <a:avLst/>
          </a:prstGeom>
        </p:spPr>
      </p:pic>
    </p:spTree>
    <p:extLst>
      <p:ext uri="{BB962C8B-B14F-4D97-AF65-F5344CB8AC3E}">
        <p14:creationId xmlns:p14="http://schemas.microsoft.com/office/powerpoint/2010/main" val="51227007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BADCA-2C70-BCF2-3A23-E5AAEDECF8C8}"/>
              </a:ext>
            </a:extLst>
          </p:cNvPr>
          <p:cNvSpPr>
            <a:spLocks noGrp="1"/>
          </p:cNvSpPr>
          <p:nvPr>
            <p:ph type="title"/>
          </p:nvPr>
        </p:nvSpPr>
        <p:spPr/>
        <p:txBody>
          <a:bodyPr/>
          <a:lstStyle/>
          <a:p>
            <a:r>
              <a:rPr lang="en-US" dirty="0"/>
              <a:t>Data Modeling</a:t>
            </a:r>
          </a:p>
        </p:txBody>
      </p:sp>
      <p:sp>
        <p:nvSpPr>
          <p:cNvPr id="3" name="Content Placeholder 2">
            <a:extLst>
              <a:ext uri="{FF2B5EF4-FFF2-40B4-BE49-F238E27FC236}">
                <a16:creationId xmlns:a16="http://schemas.microsoft.com/office/drawing/2014/main" id="{ECFEAD63-78A7-6EC6-40C4-ED6506F3856D}"/>
              </a:ext>
            </a:extLst>
          </p:cNvPr>
          <p:cNvSpPr>
            <a:spLocks noGrp="1"/>
          </p:cNvSpPr>
          <p:nvPr>
            <p:ph idx="1"/>
          </p:nvPr>
        </p:nvSpPr>
        <p:spPr>
          <a:xfrm>
            <a:off x="712092" y="1502979"/>
            <a:ext cx="6592598" cy="4853371"/>
          </a:xfrm>
        </p:spPr>
        <p:txBody>
          <a:bodyPr vert="horz" lIns="91440" tIns="45720" rIns="91440" bIns="45720" rtlCol="0" anchor="t">
            <a:normAutofit/>
          </a:bodyPr>
          <a:lstStyle/>
          <a:p>
            <a:pPr marL="0" indent="0">
              <a:buNone/>
            </a:pPr>
            <a:r>
              <a:rPr lang="en-US" sz="1200" u="sng" dirty="0"/>
              <a:t>Advanced Model</a:t>
            </a:r>
          </a:p>
          <a:p>
            <a:pPr marL="342900" indent="-342900"/>
            <a:r>
              <a:rPr lang="en-US" sz="1200" dirty="0"/>
              <a:t>Random Forest was chosen due to it capturing non-linear interactions, and its ability to reduce generalizations and overfitting.</a:t>
            </a:r>
          </a:p>
          <a:p>
            <a:pPr marL="342900" indent="-342900"/>
            <a:r>
              <a:rPr lang="en-US" sz="1200" dirty="0"/>
              <a:t>100 Trees were used in this model, simply because it is a standard number. </a:t>
            </a:r>
          </a:p>
          <a:p>
            <a:pPr marL="342900" indent="-342900"/>
            <a:r>
              <a:rPr lang="en-US" sz="1200" b="1" dirty="0"/>
              <a:t>Accuracy</a:t>
            </a:r>
            <a:endParaRPr lang="en-US" sz="1200" dirty="0"/>
          </a:p>
          <a:p>
            <a:pPr marL="800100" lvl="1">
              <a:buFont typeface="Courier New" panose="020B0604020202020204" pitchFamily="34" charset="0"/>
              <a:buChar char="o"/>
            </a:pPr>
            <a:r>
              <a:rPr lang="en-US" sz="1200" dirty="0">
                <a:ea typeface="+mn-lt"/>
                <a:cs typeface="+mn-lt"/>
              </a:rPr>
              <a:t>About 52% of predictions are correct – only slightly better than random guessing</a:t>
            </a:r>
          </a:p>
          <a:p>
            <a:pPr marL="342900"/>
            <a:r>
              <a:rPr lang="en-US" sz="1200" b="1" dirty="0">
                <a:ea typeface="+mn-lt"/>
                <a:cs typeface="+mn-lt"/>
              </a:rPr>
              <a:t>Precision</a:t>
            </a:r>
          </a:p>
          <a:p>
            <a:pPr marL="800100" lvl="1">
              <a:buFont typeface="Courier New" panose="020B0604020202020204" pitchFamily="34" charset="0"/>
              <a:buChar char="o"/>
            </a:pPr>
            <a:r>
              <a:rPr lang="en-US" sz="1200" dirty="0"/>
              <a:t>Predictions are correct around 52% of the time</a:t>
            </a:r>
          </a:p>
          <a:p>
            <a:pPr marL="342900"/>
            <a:r>
              <a:rPr lang="en-US" sz="1200" b="1" dirty="0"/>
              <a:t>Accuracy</a:t>
            </a:r>
          </a:p>
          <a:p>
            <a:pPr marL="800100" lvl="1">
              <a:buFont typeface="Courier New" panose="020B0604020202020204" pitchFamily="34" charset="0"/>
              <a:buChar char="o"/>
            </a:pPr>
            <a:r>
              <a:rPr lang="en-US" sz="1200" dirty="0">
                <a:ea typeface="+mn-lt"/>
                <a:cs typeface="+mn-lt"/>
              </a:rPr>
              <a:t>The model catches only about 46% of actual diabetes cases </a:t>
            </a:r>
          </a:p>
          <a:p>
            <a:pPr marL="342900"/>
            <a:r>
              <a:rPr lang="en-US" sz="1200" b="1" dirty="0">
                <a:ea typeface="+mn-lt"/>
                <a:cs typeface="+mn-lt"/>
              </a:rPr>
              <a:t>F1‑score</a:t>
            </a:r>
          </a:p>
          <a:p>
            <a:pPr marL="800100" lvl="1">
              <a:buFont typeface="Courier New" panose="020B0604020202020204" pitchFamily="34" charset="0"/>
              <a:buChar char="o"/>
            </a:pPr>
            <a:r>
              <a:rPr lang="en-US" sz="1200" dirty="0">
                <a:ea typeface="+mn-lt"/>
                <a:cs typeface="+mn-lt"/>
              </a:rPr>
              <a:t>The harmonic mean of precision and recall is below 0.5, indicating poor balance.</a:t>
            </a:r>
          </a:p>
          <a:p>
            <a:pPr marL="342900"/>
            <a:r>
              <a:rPr lang="en-US" sz="1200" b="1" dirty="0">
                <a:ea typeface="+mn-lt"/>
                <a:cs typeface="+mn-lt"/>
              </a:rPr>
              <a:t>ROC‑AUC</a:t>
            </a:r>
          </a:p>
          <a:p>
            <a:pPr marL="800100" lvl="1">
              <a:buFont typeface="Courier New" panose="020B0604020202020204" pitchFamily="34" charset="0"/>
              <a:buChar char="o"/>
            </a:pPr>
            <a:r>
              <a:rPr lang="en-US" sz="1200" dirty="0">
                <a:ea typeface="+mn-lt"/>
                <a:cs typeface="+mn-lt"/>
              </a:rPr>
              <a:t>The model distinguishes diabetics from non‑diabetics only 52% of the time</a:t>
            </a:r>
          </a:p>
        </p:txBody>
      </p:sp>
      <p:sp>
        <p:nvSpPr>
          <p:cNvPr id="5" name="Footer Placeholder 4">
            <a:extLst>
              <a:ext uri="{FF2B5EF4-FFF2-40B4-BE49-F238E27FC236}">
                <a16:creationId xmlns:a16="http://schemas.microsoft.com/office/drawing/2014/main" id="{D3052B87-4CBF-8F9C-E56C-7786230335D3}"/>
              </a:ext>
            </a:extLst>
          </p:cNvPr>
          <p:cNvSpPr>
            <a:spLocks noGrp="1"/>
          </p:cNvSpPr>
          <p:nvPr>
            <p:ph type="ftr" sz="quarter" idx="11"/>
          </p:nvPr>
        </p:nvSpPr>
        <p:spPr>
          <a:xfrm>
            <a:off x="712092" y="6492875"/>
            <a:ext cx="4539727" cy="365125"/>
          </a:xfrm>
        </p:spPr>
        <p:txBody>
          <a:bodyPr/>
          <a:lstStyle/>
          <a:p>
            <a:r>
              <a:rPr lang="en-US" dirty="0"/>
              <a:t>
              </a:t>
            </a:r>
          </a:p>
        </p:txBody>
      </p:sp>
      <p:pic>
        <p:nvPicPr>
          <p:cNvPr id="7" name="Picture 6" descr="A computer screen shot of numbers&#10;&#10;AI-generated content may be incorrect.">
            <a:extLst>
              <a:ext uri="{FF2B5EF4-FFF2-40B4-BE49-F238E27FC236}">
                <a16:creationId xmlns:a16="http://schemas.microsoft.com/office/drawing/2014/main" id="{A0B60A12-D557-1AAD-2123-AE937EDC1125}"/>
              </a:ext>
            </a:extLst>
          </p:cNvPr>
          <p:cNvPicPr>
            <a:picLocks noChangeAspect="1"/>
          </p:cNvPicPr>
          <p:nvPr/>
        </p:nvPicPr>
        <p:blipFill>
          <a:blip r:embed="rId2"/>
          <a:stretch>
            <a:fillRect/>
          </a:stretch>
        </p:blipFill>
        <p:spPr>
          <a:xfrm>
            <a:off x="7427716" y="1694793"/>
            <a:ext cx="4289774" cy="3468413"/>
          </a:xfrm>
          <a:prstGeom prst="rect">
            <a:avLst/>
          </a:prstGeom>
        </p:spPr>
      </p:pic>
    </p:spTree>
    <p:extLst>
      <p:ext uri="{BB962C8B-B14F-4D97-AF65-F5344CB8AC3E}">
        <p14:creationId xmlns:p14="http://schemas.microsoft.com/office/powerpoint/2010/main" val="84225383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69E1-FE15-2DE2-4A18-1EF22D2844D0}"/>
              </a:ext>
            </a:extLst>
          </p:cNvPr>
          <p:cNvSpPr>
            <a:spLocks noGrp="1"/>
          </p:cNvSpPr>
          <p:nvPr>
            <p:ph type="title"/>
          </p:nvPr>
        </p:nvSpPr>
        <p:spPr/>
        <p:txBody>
          <a:bodyPr/>
          <a:lstStyle/>
          <a:p>
            <a:r>
              <a:rPr lang="en-US" dirty="0"/>
              <a:t>Data Visualization </a:t>
            </a:r>
          </a:p>
          <a:p>
            <a:endParaRPr lang="en-US" dirty="0"/>
          </a:p>
        </p:txBody>
      </p:sp>
      <p:pic>
        <p:nvPicPr>
          <p:cNvPr id="7" name="Content Placeholder 6" descr="A graph showing different colored bars&#10;&#10;AI-generated content may be incorrect.">
            <a:extLst>
              <a:ext uri="{FF2B5EF4-FFF2-40B4-BE49-F238E27FC236}">
                <a16:creationId xmlns:a16="http://schemas.microsoft.com/office/drawing/2014/main" id="{9C3F5AB0-BFDE-B494-D2CA-B41D0B6B105D}"/>
              </a:ext>
            </a:extLst>
          </p:cNvPr>
          <p:cNvPicPr>
            <a:picLocks noGrp="1" noChangeAspect="1"/>
          </p:cNvPicPr>
          <p:nvPr>
            <p:ph idx="1"/>
          </p:nvPr>
        </p:nvPicPr>
        <p:blipFill>
          <a:blip r:embed="rId2"/>
          <a:stretch>
            <a:fillRect/>
          </a:stretch>
        </p:blipFill>
        <p:spPr>
          <a:xfrm>
            <a:off x="6659131" y="1753584"/>
            <a:ext cx="5334349" cy="3886829"/>
          </a:xfrm>
          <a:prstGeom prst="rect">
            <a:avLst/>
          </a:prstGeom>
        </p:spPr>
      </p:pic>
      <p:sp>
        <p:nvSpPr>
          <p:cNvPr id="5" name="Footer Placeholder 4">
            <a:extLst>
              <a:ext uri="{FF2B5EF4-FFF2-40B4-BE49-F238E27FC236}">
                <a16:creationId xmlns:a16="http://schemas.microsoft.com/office/drawing/2014/main" id="{519EAB17-D6E3-9038-8222-F124D02D87E3}"/>
              </a:ext>
            </a:extLst>
          </p:cNvPr>
          <p:cNvSpPr>
            <a:spLocks noGrp="1"/>
          </p:cNvSpPr>
          <p:nvPr>
            <p:ph type="ftr" sz="quarter" idx="11"/>
          </p:nvPr>
        </p:nvSpPr>
        <p:spPr/>
        <p:txBody>
          <a:bodyPr/>
          <a:lstStyle/>
          <a:p>
            <a:r>
              <a:rPr lang="en-US" dirty="0"/>
              <a:t>
              </a:t>
            </a:r>
          </a:p>
        </p:txBody>
      </p:sp>
      <p:sp>
        <p:nvSpPr>
          <p:cNvPr id="8" name="TextBox 7">
            <a:extLst>
              <a:ext uri="{FF2B5EF4-FFF2-40B4-BE49-F238E27FC236}">
                <a16:creationId xmlns:a16="http://schemas.microsoft.com/office/drawing/2014/main" id="{950ECDDD-3FAA-6049-8DC3-53D52A7ECB98}"/>
              </a:ext>
            </a:extLst>
          </p:cNvPr>
          <p:cNvSpPr txBox="1"/>
          <p:nvPr/>
        </p:nvSpPr>
        <p:spPr>
          <a:xfrm>
            <a:off x="704871" y="1753584"/>
            <a:ext cx="595426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u="sng" dirty="0"/>
              <a:t>Model Performance Comparison</a:t>
            </a:r>
          </a:p>
          <a:p>
            <a:endParaRPr lang="en-US" sz="1600" dirty="0"/>
          </a:p>
          <a:p>
            <a:pPr marL="285750" indent="-285750">
              <a:buFont typeface="Arial"/>
              <a:buChar char="•"/>
            </a:pPr>
            <a:r>
              <a:rPr lang="en-US" sz="1600" b="1" dirty="0"/>
              <a:t>Baseline Models</a:t>
            </a:r>
          </a:p>
          <a:p>
            <a:pPr marL="742950" lvl="1" indent="-285750">
              <a:buFont typeface="Courier New"/>
              <a:buChar char="o"/>
            </a:pPr>
            <a:r>
              <a:rPr lang="en-US" sz="1600" dirty="0"/>
              <a:t>Logistic Regression was chosen due to it being the </a:t>
            </a:r>
            <a:r>
              <a:rPr lang="en-US" sz="1600" dirty="0">
                <a:ea typeface="+mn-lt"/>
                <a:cs typeface="+mn-lt"/>
              </a:rPr>
              <a:t>preferred </a:t>
            </a:r>
            <a:r>
              <a:rPr lang="en-US" sz="1600" dirty="0"/>
              <a:t>baseline model while Decision Tree was chosen due to it showing poorer performance when compared to the others. </a:t>
            </a:r>
          </a:p>
          <a:p>
            <a:pPr marL="742950" lvl="1" indent="-285750">
              <a:buFont typeface="Courier New"/>
              <a:buChar char="o"/>
            </a:pPr>
            <a:endParaRPr lang="en-US" sz="1600" dirty="0"/>
          </a:p>
          <a:p>
            <a:r>
              <a:rPr lang="en-US" sz="1600" dirty="0"/>
              <a:t>The purpose of this graph is to further visualize the differences between the different models discussed above. Based on this, we can see that the differences between Logistic Regression and Random Forest are not significant. However, we can see that Logistic Regression misses the highest number of diabetic cases when compared to the rest. It should be noted that the difference between Random forest and random guessing is very marginal</a:t>
            </a:r>
          </a:p>
        </p:txBody>
      </p:sp>
    </p:spTree>
    <p:extLst>
      <p:ext uri="{BB962C8B-B14F-4D97-AF65-F5344CB8AC3E}">
        <p14:creationId xmlns:p14="http://schemas.microsoft.com/office/powerpoint/2010/main" val="428405313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AB38-E812-F31B-E4C4-588522DB9EB9}"/>
              </a:ext>
            </a:extLst>
          </p:cNvPr>
          <p:cNvSpPr>
            <a:spLocks noGrp="1"/>
          </p:cNvSpPr>
          <p:nvPr>
            <p:ph type="title"/>
          </p:nvPr>
        </p:nvSpPr>
        <p:spPr/>
        <p:txBody>
          <a:bodyPr/>
          <a:lstStyle/>
          <a:p>
            <a:r>
              <a:rPr lang="en-US" dirty="0"/>
              <a:t>Data Visualization </a:t>
            </a:r>
          </a:p>
          <a:p>
            <a:endParaRPr lang="en-US" dirty="0"/>
          </a:p>
        </p:txBody>
      </p:sp>
      <p:pic>
        <p:nvPicPr>
          <p:cNvPr id="7" name="Content Placeholder 6" descr="A graph of a graph&#10;&#10;AI-generated content may be incorrect.">
            <a:extLst>
              <a:ext uri="{FF2B5EF4-FFF2-40B4-BE49-F238E27FC236}">
                <a16:creationId xmlns:a16="http://schemas.microsoft.com/office/drawing/2014/main" id="{BD0F7779-F7BC-C2E9-8217-91674E02F211}"/>
              </a:ext>
            </a:extLst>
          </p:cNvPr>
          <p:cNvPicPr>
            <a:picLocks noGrp="1" noChangeAspect="1"/>
          </p:cNvPicPr>
          <p:nvPr>
            <p:ph idx="1"/>
          </p:nvPr>
        </p:nvPicPr>
        <p:blipFill>
          <a:blip r:embed="rId2"/>
          <a:stretch>
            <a:fillRect/>
          </a:stretch>
        </p:blipFill>
        <p:spPr>
          <a:xfrm>
            <a:off x="6878337" y="1611336"/>
            <a:ext cx="5170890" cy="3927616"/>
          </a:xfrm>
          <a:prstGeom prst="rect">
            <a:avLst/>
          </a:prstGeom>
        </p:spPr>
      </p:pic>
      <p:sp>
        <p:nvSpPr>
          <p:cNvPr id="5" name="Footer Placeholder 4">
            <a:extLst>
              <a:ext uri="{FF2B5EF4-FFF2-40B4-BE49-F238E27FC236}">
                <a16:creationId xmlns:a16="http://schemas.microsoft.com/office/drawing/2014/main" id="{0054038A-A737-4666-88AB-2896ED7802E7}"/>
              </a:ext>
            </a:extLst>
          </p:cNvPr>
          <p:cNvSpPr>
            <a:spLocks noGrp="1"/>
          </p:cNvSpPr>
          <p:nvPr>
            <p:ph type="ftr" sz="quarter" idx="11"/>
          </p:nvPr>
        </p:nvSpPr>
        <p:spPr/>
        <p:txBody>
          <a:bodyPr/>
          <a:lstStyle/>
          <a:p>
            <a:r>
              <a:rPr lang="en-US" dirty="0"/>
              <a:t>
              </a:t>
            </a:r>
          </a:p>
        </p:txBody>
      </p:sp>
      <p:sp>
        <p:nvSpPr>
          <p:cNvPr id="8" name="TextBox 7">
            <a:extLst>
              <a:ext uri="{FF2B5EF4-FFF2-40B4-BE49-F238E27FC236}">
                <a16:creationId xmlns:a16="http://schemas.microsoft.com/office/drawing/2014/main" id="{5EA845AA-AF27-679C-52C4-134BC7A07B0B}"/>
              </a:ext>
            </a:extLst>
          </p:cNvPr>
          <p:cNvSpPr txBox="1"/>
          <p:nvPr/>
        </p:nvSpPr>
        <p:spPr>
          <a:xfrm>
            <a:off x="833812" y="1684816"/>
            <a:ext cx="5905454"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t>ROC Curves a Multi-panel Comparison</a:t>
            </a:r>
          </a:p>
          <a:p>
            <a:endParaRPr lang="en-US" dirty="0"/>
          </a:p>
          <a:p>
            <a:pPr marL="285750" indent="-285750">
              <a:buFont typeface="Arial"/>
              <a:buChar char="•"/>
            </a:pPr>
            <a:r>
              <a:rPr lang="en-US" dirty="0"/>
              <a:t>ROC curves for Baseline models and the advanced model. There is also a random guessing diagonal to act as a reference for comparison.</a:t>
            </a:r>
          </a:p>
          <a:p>
            <a:pPr marL="742950" lvl="1" indent="-285750">
              <a:buFont typeface="Courier New"/>
              <a:buChar char="o"/>
            </a:pPr>
            <a:r>
              <a:rPr lang="en-US" dirty="0"/>
              <a:t>This specific graph was chosen due to it being a straightforward way to visualize the differences between the models.</a:t>
            </a:r>
          </a:p>
          <a:p>
            <a:pPr marL="285750" indent="-285750">
              <a:buFont typeface="Arial"/>
              <a:buChar char="•"/>
            </a:pPr>
            <a:r>
              <a:rPr lang="en-US" dirty="0"/>
              <a:t>None of the models are distinctly better or worse, only slight differences can be observed. All curves lie close to the diagonal. None significantly surpass random guessing. </a:t>
            </a:r>
          </a:p>
          <a:p>
            <a:pPr marL="285750" indent="-285750">
              <a:buFont typeface="Arial"/>
              <a:buChar char="•"/>
            </a:pPr>
            <a:r>
              <a:rPr lang="en-US" dirty="0"/>
              <a:t>This dataset lacks any meaningful ability for predictions related to diabetes. </a:t>
            </a:r>
          </a:p>
          <a:p>
            <a:endParaRPr lang="en-US" dirty="0"/>
          </a:p>
          <a:p>
            <a:pPr marL="285750" indent="-285750">
              <a:buFont typeface="Arial"/>
              <a:buChar char="•"/>
            </a:pPr>
            <a:endParaRPr lang="en-US" dirty="0"/>
          </a:p>
          <a:p>
            <a:pPr marL="285750" indent="-285750">
              <a:buFont typeface="Arial"/>
              <a:buChar char="•"/>
            </a:pPr>
            <a:endParaRPr lang="en-US" dirty="0"/>
          </a:p>
        </p:txBody>
      </p:sp>
    </p:spTree>
    <p:extLst>
      <p:ext uri="{BB962C8B-B14F-4D97-AF65-F5344CB8AC3E}">
        <p14:creationId xmlns:p14="http://schemas.microsoft.com/office/powerpoint/2010/main" val="48671055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D80A-5D7D-F64F-4F03-67CC606D62F3}"/>
              </a:ext>
            </a:extLst>
          </p:cNvPr>
          <p:cNvSpPr>
            <a:spLocks noGrp="1"/>
          </p:cNvSpPr>
          <p:nvPr>
            <p:ph type="title"/>
          </p:nvPr>
        </p:nvSpPr>
        <p:spPr/>
        <p:txBody>
          <a:bodyPr/>
          <a:lstStyle/>
          <a:p>
            <a:r>
              <a:rPr lang="en-US" dirty="0"/>
              <a:t>Data Visualization </a:t>
            </a:r>
          </a:p>
        </p:txBody>
      </p:sp>
      <p:sp>
        <p:nvSpPr>
          <p:cNvPr id="3" name="Content Placeholder 2">
            <a:extLst>
              <a:ext uri="{FF2B5EF4-FFF2-40B4-BE49-F238E27FC236}">
                <a16:creationId xmlns:a16="http://schemas.microsoft.com/office/drawing/2014/main" id="{8300B288-9A24-8F48-73F6-E223A111C60A}"/>
              </a:ext>
            </a:extLst>
          </p:cNvPr>
          <p:cNvSpPr>
            <a:spLocks noGrp="1"/>
          </p:cNvSpPr>
          <p:nvPr>
            <p:ph idx="1"/>
          </p:nvPr>
        </p:nvSpPr>
        <p:spPr>
          <a:xfrm>
            <a:off x="700634" y="1611336"/>
            <a:ext cx="4911601" cy="4135123"/>
          </a:xfrm>
        </p:spPr>
        <p:txBody>
          <a:bodyPr vert="horz" lIns="91440" tIns="45720" rIns="91440" bIns="45720" rtlCol="0" anchor="t">
            <a:normAutofit/>
          </a:bodyPr>
          <a:lstStyle/>
          <a:p>
            <a:pPr marL="0" indent="0">
              <a:buNone/>
            </a:pPr>
            <a:r>
              <a:rPr lang="en-US" u="sng" dirty="0"/>
              <a:t>Distribution of Diabetes Status</a:t>
            </a:r>
          </a:p>
          <a:p>
            <a:r>
              <a:rPr lang="en-US" dirty="0"/>
              <a:t>A bar chart was used because it's a familiar and effective count plot. </a:t>
            </a:r>
          </a:p>
          <a:p>
            <a:r>
              <a:rPr lang="en-US" dirty="0"/>
              <a:t>The dataset is generally balanced, both categories (diabetic and non-diabetic) have around the same number of people.</a:t>
            </a:r>
          </a:p>
          <a:p>
            <a:r>
              <a:rPr lang="en-US" dirty="0"/>
              <a:t>This may contribute to lack of correlations found in the statistical analysis section</a:t>
            </a:r>
          </a:p>
        </p:txBody>
      </p:sp>
      <p:sp>
        <p:nvSpPr>
          <p:cNvPr id="5" name="Footer Placeholder 4">
            <a:extLst>
              <a:ext uri="{FF2B5EF4-FFF2-40B4-BE49-F238E27FC236}">
                <a16:creationId xmlns:a16="http://schemas.microsoft.com/office/drawing/2014/main" id="{A10B8DEA-59DA-18E0-A91D-98CA0A313AEA}"/>
              </a:ext>
            </a:extLst>
          </p:cNvPr>
          <p:cNvSpPr>
            <a:spLocks noGrp="1"/>
          </p:cNvSpPr>
          <p:nvPr>
            <p:ph type="ftr" sz="quarter" idx="11"/>
          </p:nvPr>
        </p:nvSpPr>
        <p:spPr/>
        <p:txBody>
          <a:bodyPr/>
          <a:lstStyle/>
          <a:p>
            <a:r>
              <a:rPr lang="en-US" dirty="0"/>
              <a:t>
              </a:t>
            </a:r>
          </a:p>
        </p:txBody>
      </p:sp>
      <p:pic>
        <p:nvPicPr>
          <p:cNvPr id="7" name="Picture 6" descr="A graph of a number of diabetes status&#10;&#10;AI-generated content may be incorrect.">
            <a:extLst>
              <a:ext uri="{FF2B5EF4-FFF2-40B4-BE49-F238E27FC236}">
                <a16:creationId xmlns:a16="http://schemas.microsoft.com/office/drawing/2014/main" id="{9920221E-9C33-D0F6-F4CC-3B5A0BF6B224}"/>
              </a:ext>
            </a:extLst>
          </p:cNvPr>
          <p:cNvPicPr>
            <a:picLocks noChangeAspect="1"/>
          </p:cNvPicPr>
          <p:nvPr/>
        </p:nvPicPr>
        <p:blipFill>
          <a:blip r:embed="rId2"/>
          <a:stretch>
            <a:fillRect/>
          </a:stretch>
        </p:blipFill>
        <p:spPr>
          <a:xfrm>
            <a:off x="5710857" y="1513892"/>
            <a:ext cx="6334553" cy="4330010"/>
          </a:xfrm>
          <a:prstGeom prst="rect">
            <a:avLst/>
          </a:prstGeom>
        </p:spPr>
      </p:pic>
    </p:spTree>
    <p:extLst>
      <p:ext uri="{BB962C8B-B14F-4D97-AF65-F5344CB8AC3E}">
        <p14:creationId xmlns:p14="http://schemas.microsoft.com/office/powerpoint/2010/main" val="229909067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D1C53-D33A-A76C-6DE3-2C42700CBB52}"/>
              </a:ext>
            </a:extLst>
          </p:cNvPr>
          <p:cNvSpPr>
            <a:spLocks noGrp="1"/>
          </p:cNvSpPr>
          <p:nvPr>
            <p:ph type="title"/>
          </p:nvPr>
        </p:nvSpPr>
        <p:spPr/>
        <p:txBody>
          <a:bodyPr/>
          <a:lstStyle/>
          <a:p>
            <a:r>
              <a:rPr lang="en-US" dirty="0"/>
              <a:t>Data Visualization </a:t>
            </a:r>
          </a:p>
          <a:p>
            <a:endParaRPr lang="en-US" dirty="0"/>
          </a:p>
        </p:txBody>
      </p:sp>
      <p:pic>
        <p:nvPicPr>
          <p:cNvPr id="7" name="Content Placeholder 6" descr="A chart of diabetes status&#10;&#10;AI-generated content may be incorrect.">
            <a:extLst>
              <a:ext uri="{FF2B5EF4-FFF2-40B4-BE49-F238E27FC236}">
                <a16:creationId xmlns:a16="http://schemas.microsoft.com/office/drawing/2014/main" id="{A39BC9EC-2205-476D-1CFA-C257B50FCDFA}"/>
              </a:ext>
            </a:extLst>
          </p:cNvPr>
          <p:cNvPicPr>
            <a:picLocks noGrp="1" noChangeAspect="1"/>
          </p:cNvPicPr>
          <p:nvPr>
            <p:ph idx="1"/>
          </p:nvPr>
        </p:nvPicPr>
        <p:blipFill>
          <a:blip r:embed="rId2"/>
          <a:stretch>
            <a:fillRect/>
          </a:stretch>
        </p:blipFill>
        <p:spPr>
          <a:xfrm>
            <a:off x="5654888" y="1604955"/>
            <a:ext cx="5937540" cy="4024057"/>
          </a:xfrm>
          <a:prstGeom prst="rect">
            <a:avLst/>
          </a:prstGeom>
        </p:spPr>
      </p:pic>
      <p:sp>
        <p:nvSpPr>
          <p:cNvPr id="5" name="Footer Placeholder 4">
            <a:extLst>
              <a:ext uri="{FF2B5EF4-FFF2-40B4-BE49-F238E27FC236}">
                <a16:creationId xmlns:a16="http://schemas.microsoft.com/office/drawing/2014/main" id="{8600A019-87AF-65F0-7ED4-1008759A7B2A}"/>
              </a:ext>
            </a:extLst>
          </p:cNvPr>
          <p:cNvSpPr>
            <a:spLocks noGrp="1"/>
          </p:cNvSpPr>
          <p:nvPr>
            <p:ph type="ftr" sz="quarter" idx="11"/>
          </p:nvPr>
        </p:nvSpPr>
        <p:spPr/>
        <p:txBody>
          <a:bodyPr/>
          <a:lstStyle/>
          <a:p>
            <a:r>
              <a:rPr lang="en-US" dirty="0"/>
              <a:t>
              </a:t>
            </a:r>
          </a:p>
        </p:txBody>
      </p:sp>
      <p:sp>
        <p:nvSpPr>
          <p:cNvPr id="3" name="TextBox 2">
            <a:extLst>
              <a:ext uri="{FF2B5EF4-FFF2-40B4-BE49-F238E27FC236}">
                <a16:creationId xmlns:a16="http://schemas.microsoft.com/office/drawing/2014/main" id="{BC838462-25E4-5330-7A03-4ED9E9925231}"/>
              </a:ext>
            </a:extLst>
          </p:cNvPr>
          <p:cNvSpPr txBox="1"/>
          <p:nvPr/>
        </p:nvSpPr>
        <p:spPr>
          <a:xfrm>
            <a:off x="816620" y="1702008"/>
            <a:ext cx="4711821"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t>Glucose levels by Diabetic Status</a:t>
            </a:r>
          </a:p>
          <a:p>
            <a:endParaRPr lang="en-US" u="sng" dirty="0"/>
          </a:p>
          <a:p>
            <a:pPr marL="285750" indent="-285750">
              <a:buFont typeface="Arial"/>
              <a:buChar char="•"/>
            </a:pPr>
            <a:r>
              <a:rPr lang="en-US" dirty="0"/>
              <a:t>Medians are very close, the ranges overlap</a:t>
            </a:r>
          </a:p>
          <a:p>
            <a:pPr marL="285750" indent="-285750">
              <a:buFont typeface="Arial"/>
              <a:buChar char="•"/>
            </a:pPr>
            <a:r>
              <a:rPr lang="en-US" dirty="0"/>
              <a:t>This aligns with the T-Test performed in the statistical analysis section</a:t>
            </a:r>
          </a:p>
          <a:p>
            <a:pPr marL="285750" indent="-285750">
              <a:buFont typeface="Arial"/>
              <a:buChar char="•"/>
            </a:pPr>
            <a:r>
              <a:rPr lang="en-US" dirty="0"/>
              <a:t>Glucose alone is not a reliable predictor which explains poor model performance</a:t>
            </a:r>
          </a:p>
          <a:p>
            <a:pPr marL="285750" indent="-285750">
              <a:buFont typeface="Arial"/>
              <a:buChar char="•"/>
            </a:pPr>
            <a:r>
              <a:rPr lang="en-US" dirty="0"/>
              <a:t>This specific graph was chosen because boxplots are excellent at representing the difference between a continuous variable across two categories. </a:t>
            </a:r>
          </a:p>
        </p:txBody>
      </p:sp>
    </p:spTree>
    <p:extLst>
      <p:ext uri="{BB962C8B-B14F-4D97-AF65-F5344CB8AC3E}">
        <p14:creationId xmlns:p14="http://schemas.microsoft.com/office/powerpoint/2010/main" val="389582461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2C7E-C301-E82D-4EC2-94AEE2569269}"/>
              </a:ext>
            </a:extLst>
          </p:cNvPr>
          <p:cNvSpPr>
            <a:spLocks noGrp="1"/>
          </p:cNvSpPr>
          <p:nvPr>
            <p:ph type="title"/>
          </p:nvPr>
        </p:nvSpPr>
        <p:spPr/>
        <p:txBody>
          <a:bodyPr/>
          <a:lstStyle/>
          <a:p>
            <a:r>
              <a:rPr lang="en-US" dirty="0"/>
              <a:t>Data Visualization </a:t>
            </a:r>
          </a:p>
          <a:p>
            <a:endParaRPr lang="en-US" dirty="0"/>
          </a:p>
        </p:txBody>
      </p:sp>
      <p:pic>
        <p:nvPicPr>
          <p:cNvPr id="7" name="Content Placeholder 6" descr="A graph of a number of different shades of blue&#10;&#10;AI-generated content may be incorrect.">
            <a:extLst>
              <a:ext uri="{FF2B5EF4-FFF2-40B4-BE49-F238E27FC236}">
                <a16:creationId xmlns:a16="http://schemas.microsoft.com/office/drawing/2014/main" id="{E6AE4291-EA50-8957-72DB-BC4B6E27E2CD}"/>
              </a:ext>
            </a:extLst>
          </p:cNvPr>
          <p:cNvPicPr>
            <a:picLocks noGrp="1" noChangeAspect="1"/>
          </p:cNvPicPr>
          <p:nvPr>
            <p:ph idx="1"/>
          </p:nvPr>
        </p:nvPicPr>
        <p:blipFill>
          <a:blip r:embed="rId2"/>
          <a:stretch>
            <a:fillRect/>
          </a:stretch>
        </p:blipFill>
        <p:spPr>
          <a:xfrm>
            <a:off x="6425575" y="1551964"/>
            <a:ext cx="5498381" cy="4278386"/>
          </a:xfrm>
          <a:prstGeom prst="rect">
            <a:avLst/>
          </a:prstGeom>
        </p:spPr>
      </p:pic>
      <p:sp>
        <p:nvSpPr>
          <p:cNvPr id="5" name="Footer Placeholder 4">
            <a:extLst>
              <a:ext uri="{FF2B5EF4-FFF2-40B4-BE49-F238E27FC236}">
                <a16:creationId xmlns:a16="http://schemas.microsoft.com/office/drawing/2014/main" id="{DD6898BB-F7E3-1869-87C9-D7AE2FC54B40}"/>
              </a:ext>
            </a:extLst>
          </p:cNvPr>
          <p:cNvSpPr>
            <a:spLocks noGrp="1"/>
          </p:cNvSpPr>
          <p:nvPr>
            <p:ph type="ftr" sz="quarter" idx="11"/>
          </p:nvPr>
        </p:nvSpPr>
        <p:spPr/>
        <p:txBody>
          <a:bodyPr/>
          <a:lstStyle/>
          <a:p>
            <a:r>
              <a:rPr lang="en-US" dirty="0"/>
              <a:t>
              </a:t>
            </a:r>
          </a:p>
        </p:txBody>
      </p:sp>
      <p:sp>
        <p:nvSpPr>
          <p:cNvPr id="9" name="TextBox 8">
            <a:extLst>
              <a:ext uri="{FF2B5EF4-FFF2-40B4-BE49-F238E27FC236}">
                <a16:creationId xmlns:a16="http://schemas.microsoft.com/office/drawing/2014/main" id="{6678EF9F-1C2C-3FFB-D555-5B1DBD758FE6}"/>
              </a:ext>
            </a:extLst>
          </p:cNvPr>
          <p:cNvSpPr txBox="1"/>
          <p:nvPr/>
        </p:nvSpPr>
        <p:spPr>
          <a:xfrm>
            <a:off x="653295" y="1641836"/>
            <a:ext cx="577227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t>Top 10 Feature Importance, based on Random Forest</a:t>
            </a:r>
          </a:p>
          <a:p>
            <a:endParaRPr lang="en-US" dirty="0"/>
          </a:p>
          <a:p>
            <a:pPr marL="285750" indent="-285750">
              <a:buFont typeface="Arial"/>
              <a:buChar char="•"/>
            </a:pPr>
            <a:r>
              <a:rPr lang="en-US" dirty="0"/>
              <a:t>Ranks the most key features based on Random Forest</a:t>
            </a:r>
          </a:p>
          <a:p>
            <a:pPr marL="285750" indent="-285750">
              <a:buFont typeface="Arial"/>
              <a:buChar char="•"/>
            </a:pPr>
            <a:r>
              <a:rPr lang="en-US" dirty="0"/>
              <a:t>Num_id is ranked as the most important, this suggests that the model is overfitting to noise instead of learning meaningful relationships</a:t>
            </a:r>
          </a:p>
          <a:p>
            <a:pPr marL="742950" lvl="1" indent="-285750">
              <a:buFont typeface="Courier New"/>
              <a:buChar char="o"/>
            </a:pPr>
            <a:r>
              <a:rPr lang="en-US" dirty="0"/>
              <a:t>This suggests that the synthetic data is unreliable.</a:t>
            </a:r>
          </a:p>
          <a:p>
            <a:pPr marL="285750" indent="-285750">
              <a:buFont typeface="Arial"/>
              <a:buChar char="•"/>
            </a:pPr>
            <a:r>
              <a:rPr lang="en-US" dirty="0"/>
              <a:t>This specific graph was chosen because Feature importance is a unique output of Random Forest. Horizontal bars are also easy to read. </a:t>
            </a:r>
          </a:p>
          <a:p>
            <a:pPr marL="285750" indent="-285750">
              <a:buFont typeface="Arial"/>
              <a:buChar char="•"/>
            </a:pPr>
            <a:endParaRPr lang="en-US" dirty="0"/>
          </a:p>
          <a:p>
            <a:endParaRPr lang="en-US" dirty="0"/>
          </a:p>
          <a:p>
            <a:pPr marL="285750" indent="-285750">
              <a:buFont typeface="Arial"/>
              <a:buChar char="•"/>
            </a:pPr>
            <a:endParaRPr lang="en-US" dirty="0"/>
          </a:p>
        </p:txBody>
      </p:sp>
    </p:spTree>
    <p:extLst>
      <p:ext uri="{BB962C8B-B14F-4D97-AF65-F5344CB8AC3E}">
        <p14:creationId xmlns:p14="http://schemas.microsoft.com/office/powerpoint/2010/main" val="318138042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C8424-14E5-8CBF-59E9-2CBBA7FEA0B3}"/>
              </a:ext>
            </a:extLst>
          </p:cNvPr>
          <p:cNvSpPr>
            <a:spLocks noGrp="1"/>
          </p:cNvSpPr>
          <p:nvPr>
            <p:ph type="title"/>
          </p:nvPr>
        </p:nvSpPr>
        <p:spPr/>
        <p:txBody>
          <a:bodyPr/>
          <a:lstStyle/>
          <a:p>
            <a:r>
              <a:rPr lang="en-US" dirty="0"/>
              <a:t>Conclusions and Final Insights</a:t>
            </a:r>
          </a:p>
        </p:txBody>
      </p:sp>
      <p:sp>
        <p:nvSpPr>
          <p:cNvPr id="5" name="Content Placeholder 4">
            <a:extLst>
              <a:ext uri="{FF2B5EF4-FFF2-40B4-BE49-F238E27FC236}">
                <a16:creationId xmlns:a16="http://schemas.microsoft.com/office/drawing/2014/main" id="{D59444D4-F91E-9C41-81EF-7867FE4C50F4}"/>
              </a:ext>
            </a:extLst>
          </p:cNvPr>
          <p:cNvSpPr>
            <a:spLocks noGrp="1"/>
          </p:cNvSpPr>
          <p:nvPr>
            <p:ph idx="1"/>
          </p:nvPr>
        </p:nvSpPr>
        <p:spPr>
          <a:xfrm>
            <a:off x="700635" y="1553497"/>
            <a:ext cx="10691265" cy="4375717"/>
          </a:xfrm>
        </p:spPr>
        <p:txBody>
          <a:bodyPr>
            <a:normAutofit fontScale="92500" lnSpcReduction="20000"/>
          </a:bodyPr>
          <a:lstStyle/>
          <a:p>
            <a:pPr lvl="0"/>
            <a:r>
              <a:rPr lang="en-US" b="1" dirty="0"/>
              <a:t>Research Questions</a:t>
            </a:r>
          </a:p>
          <a:p>
            <a:pPr lvl="1">
              <a:buFont typeface="Courier New" panose="02070309020205020404" pitchFamily="49" charset="0"/>
              <a:buChar char="o"/>
            </a:pPr>
            <a:r>
              <a:rPr lang="en-US" dirty="0"/>
              <a:t>We were aiming to find relationships between variables, particularly any correlations between variables and diabetes status within the dataset.</a:t>
            </a:r>
          </a:p>
          <a:p>
            <a:pPr lvl="1">
              <a:buFont typeface="Courier New" panose="02070309020205020404" pitchFamily="49" charset="0"/>
              <a:buChar char="o"/>
            </a:pPr>
            <a:r>
              <a:rPr lang="en-US" dirty="0"/>
              <a:t>We used statistical tests, models, and visualizations to examine these correlations.</a:t>
            </a:r>
          </a:p>
          <a:p>
            <a:pPr lvl="1">
              <a:buFont typeface="Courier New" panose="02070309020205020404" pitchFamily="49" charset="0"/>
              <a:buChar char="o"/>
            </a:pPr>
            <a:r>
              <a:rPr lang="en-US" dirty="0"/>
              <a:t>We wanted to examine the importance of synthetic data even if it does not align with real-world data.</a:t>
            </a:r>
          </a:p>
          <a:p>
            <a:pPr lvl="0"/>
            <a:r>
              <a:rPr lang="en-US" b="1" dirty="0"/>
              <a:t>Insights</a:t>
            </a:r>
          </a:p>
          <a:p>
            <a:pPr lvl="1">
              <a:buFont typeface="Courier New" panose="02070309020205020404" pitchFamily="49" charset="0"/>
              <a:buChar char="o"/>
            </a:pPr>
            <a:r>
              <a:rPr lang="en-US" dirty="0"/>
              <a:t>Upon </a:t>
            </a:r>
            <a:r>
              <a:rPr lang="en-US" dirty="0">
                <a:latin typeface="Univers Condensed"/>
              </a:rPr>
              <a:t>analysis</a:t>
            </a:r>
            <a:r>
              <a:rPr lang="en-US" dirty="0"/>
              <a:t> and </a:t>
            </a:r>
            <a:r>
              <a:rPr lang="en-US" dirty="0">
                <a:latin typeface="Univers Condensed"/>
              </a:rPr>
              <a:t>visualization,</a:t>
            </a:r>
            <a:r>
              <a:rPr lang="en-US" dirty="0"/>
              <a:t> </a:t>
            </a:r>
            <a:r>
              <a:rPr lang="en-US" dirty="0">
                <a:latin typeface="Univers Condensed"/>
              </a:rPr>
              <a:t>we</a:t>
            </a:r>
            <a:r>
              <a:rPr lang="en-US" dirty="0"/>
              <a:t> found no significant relationships or correlations between any variables. </a:t>
            </a:r>
          </a:p>
          <a:p>
            <a:pPr lvl="1">
              <a:buFont typeface="Courier New" panose="02070309020205020404" pitchFamily="49" charset="0"/>
              <a:buChar char="o"/>
            </a:pPr>
            <a:r>
              <a:rPr lang="en-US" dirty="0"/>
              <a:t>This is likely due to the synthetic and randomly generated nature of the dataset. </a:t>
            </a:r>
          </a:p>
          <a:p>
            <a:pPr lvl="1">
              <a:buFont typeface="Courier New" panose="02070309020205020404" pitchFamily="49" charset="0"/>
              <a:buChar char="o"/>
            </a:pPr>
            <a:r>
              <a:rPr lang="en-US" dirty="0"/>
              <a:t>It could also be due to the complex nature of diabetes as a disease.</a:t>
            </a:r>
          </a:p>
          <a:p>
            <a:pPr lvl="1">
              <a:buFont typeface="Courier New" panose="02070309020205020404" pitchFamily="49" charset="0"/>
              <a:buChar char="o"/>
            </a:pPr>
            <a:r>
              <a:rPr lang="en-US" dirty="0"/>
              <a:t>Despite finding no real correlations, studying and conducting tests on synthetic datasets such as this is a good educational tool and can inform our actions on real-world data. </a:t>
            </a:r>
          </a:p>
          <a:p>
            <a:pPr lvl="1">
              <a:buFont typeface="Courier New" panose="02070309020205020404" pitchFamily="49" charset="0"/>
              <a:buChar char="o"/>
            </a:pPr>
            <a:r>
              <a:rPr lang="en-US" dirty="0"/>
              <a:t>However, this means this dataset is likely not a good diagnostic tool and if one wanted to train recognition algorithms or medical students a real-world dataset should be chosen. </a:t>
            </a:r>
          </a:p>
          <a:p>
            <a:pPr lvl="1">
              <a:buFont typeface="Courier New" panose="02070309020205020404" pitchFamily="49" charset="0"/>
              <a:buChar char="o"/>
            </a:pPr>
            <a:r>
              <a:rPr lang="en-US" dirty="0"/>
              <a:t>Overall, this project was a wonderful learning opportunity and informed how we would conduct tests on real datasets in the future.</a:t>
            </a:r>
          </a:p>
        </p:txBody>
      </p:sp>
    </p:spTree>
    <p:extLst>
      <p:ext uri="{BB962C8B-B14F-4D97-AF65-F5344CB8AC3E}">
        <p14:creationId xmlns:p14="http://schemas.microsoft.com/office/powerpoint/2010/main" val="3159367918"/>
      </p:ext>
    </p:extLst>
  </p:cSld>
  <p:clrMapOvr>
    <a:masterClrMapping/>
  </p:clrMapOvr>
  <p:transition spd="slow">
    <p:wipe/>
  </p:transition>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2306</Words>
  <Application>Microsoft Office PowerPoint</Application>
  <PresentationFormat>Widescreen</PresentationFormat>
  <Paragraphs>227</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Calisto MT</vt:lpstr>
      <vt:lpstr>Consolas</vt:lpstr>
      <vt:lpstr>Courier New</vt:lpstr>
      <vt:lpstr>Courier New,monospace</vt:lpstr>
      <vt:lpstr>Univers Condensed</vt:lpstr>
      <vt:lpstr>ChronicleVTI</vt:lpstr>
      <vt:lpstr>Synthetic Diabetes Prediction Data Analysis </vt:lpstr>
      <vt:lpstr>Introduction- The big "What &amp; Why" </vt:lpstr>
      <vt:lpstr>Introduction- The big "What &amp; Why" Continued</vt:lpstr>
      <vt:lpstr>Data Cleaning &amp; Standardization</vt:lpstr>
      <vt:lpstr>Data Cleaning &amp; Standardization Continued</vt:lpstr>
      <vt:lpstr>Exploratory Analysis: First Insights</vt:lpstr>
      <vt:lpstr>Correlation Heat MAP</vt:lpstr>
      <vt:lpstr>Summary of Eda results</vt:lpstr>
      <vt:lpstr>Summary of Eda results Continued</vt:lpstr>
      <vt:lpstr>Statistical Analysis &amp; Hypothesis  Testing </vt:lpstr>
      <vt:lpstr>Test 1 – T-Test (Glucose vs. Diabetes)</vt:lpstr>
      <vt:lpstr>Test 2 – Chi-Square (Gender vs. Diabetes)</vt:lpstr>
      <vt:lpstr>Test 3 – Correlation (BMI vs. Glucose)</vt:lpstr>
      <vt:lpstr>Statistical Analysis Final Insights</vt:lpstr>
      <vt:lpstr>Data Modeling</vt:lpstr>
      <vt:lpstr>Data Modeling</vt:lpstr>
      <vt:lpstr>Data Visualization  </vt:lpstr>
      <vt:lpstr>Data Visualization  </vt:lpstr>
      <vt:lpstr>Data Visualization </vt:lpstr>
      <vt:lpstr>Data Visualization  </vt:lpstr>
      <vt:lpstr>Data Visualization  </vt:lpstr>
      <vt:lpstr>Conclusions and Final Insights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Adrian Aldridge</cp:lastModifiedBy>
  <cp:revision>1</cp:revision>
  <dcterms:created xsi:type="dcterms:W3CDTF">2026-04-26T03:49:21Z</dcterms:created>
  <dcterms:modified xsi:type="dcterms:W3CDTF">2026-04-29T16:25:36Z</dcterms:modified>
</cp:coreProperties>
</file>